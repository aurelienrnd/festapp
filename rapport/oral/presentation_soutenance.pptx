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Aurélien Arnaud. Je vais vous présenter Vindhellfest, la refonte complète du site web d’un festival de musique rock et métal en Charente. C’est le projet que j’ai mené en autonomie sur l’année, de novembre 2025 à juillet 2026, dans le cadre du titre Concepteur Développeur d’Applications.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déroulé. Je commencerai par le contexte et les besoins de l’association, puis ma gestion de projet et la phase de conception. J’enchaînerai sur l’architecture technique, avant une démonstration live de l’application — le cœur de la présentation. Je reviendrai ensuite sur des points de code, la sécurité, les tests et le déploiement, ma veille, et je terminerai par un bilan. Commençons par le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Vindhellfest est un festival rock et métal en Charente, cinq éditions à son actif, qui prépare sa sixième pour mai 2027. Son site reposait sur WordPress, avec un design vieillissant et purement statique. Le vrai problème était opérationnel : la moindre mise à jour — ajouter un artiste, publier une actualité — nécessitait de passer par un développeur externe. Résultat, l’association ne communiquait qu’une à deux fois par an et dépendait d’un prestataire pour la maintenance courante. C’est ce qui a motivé une refonte 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fixé cinq objectifs. Moderniser l’image du festival, offrir une vitrine publique complète, et surtout donner à l’association une administration autonome pour gérer artistes, actualités et comptes sans développeur. À cela s’ajoutent une gestion différenciée des droits par rôle, et un socle de qualité — code testé, documenté, déployable. Je les ai priorisés en MoSCoW : côté Must-have, la vitrine publique, l’autonomie éditoriale, la maintenabilité, et un socle d’accessibilité validé sous WAVE avec zéro erreur et zéro erreur de contraste. En Should-have, deux éléments livrables ultérieurement : les archives des éditions passées, écartées faute de temps, et les statistiques de fréquentation, déjà couvertes par les données de vente HelloAsso. L’objectif d’autonomie change concrètement la donne : là où l’association publiait deux fois par an, elle peut désormais publier une actualité en quelques clics.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périmètre a été délimité avec l’association pour concentrer l’effort sur l’essentiel. Dans le périmètre : le site public, l’espace d’administration sécurisé avec les trois CRUD, l’upload d’images et les e-mails transactionnels. Hors périmètre : la billetterie, qui reste gérée par HelloAsso, la boutique de merchandising, et le multilingue — le site est en français uniquement. Côté acteurs, quatre profils : le visiteur public non authentifié, et trois rôles internes — admin avec l’accès complet et seul habilité à gérer les comptes, gestionnaire artistes, et gestionnaire actualités. Un point technique : le rôle est porté par un ENUM en base, donc un seul rôle par compte ; un membre qui cumule deux responsabilités reçoit le rôle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a été mené entièrement en autonomie, sans structure d’entreprise. J’ai donc dû m’organiser comme une petite équipe, en prenant seul les décisions techniques et de gestion. Je l’ai découpé en quatre sous-projets interdépendants : l’infrastructure Docker et le pipeline CI/CD forment une enveloppe commune qui orchestre les trois autres — la base de données, le backend et le frontend. Chacun a sa propre documentation et ses propres tests, ce qui lui donne une autonomie de livraison. En définissant précisément le périmètre de chacun en amont, j’ai pu développer le backend et le frontend en parallèle. Le suivi se fait sur un backlog kanban Notion : chaque carte est une user story, avec sa priorité, sa complexité, ses critères d’acceptation et des notes techniques, comme sur l’exemple affiché.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rétroplanning découpe le projet en cinq phases, de la conception en novembre 2025 à la rédaction du dossier en juillet 2026. Point important, visible sur le Gantt : j’ai volontairement fait chevaucher les phases backend et frontend — le frontend démarre deux semaines après le backend, dès que l’API est assez stable pour être consommée, ce qui m’a fait gagner du temps. Deux jalons ferment le projet : la remise du dossier le 12 juillet et la soutenance fin juillet. Côté outillage : Git et GitHub pour le versioning, GitHub Actions pour l’intégration continue avec deux jobs indépendants qui lancent lint et tests à chaque push, Docker Compose pour les trois services, draw.io et pgAdmin pour la modélisation de la base, et Figma pour les maquettes.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compte deux types d’acteurs. Le visiteur, qui accède au site sans authentification, dispose de sept cas d’usage — toutes les pages publiques et le formulaire de contact. L’administrateur a quatre cas communs aux trois rôles — se connecter, consulter le dashboard, changer son mot de passe et se déconnecter — puis trois cas restreints selon le rôle : gérer les artistes pour admin et artists, gérer les actualités pour admin et news, et gérer les utilisateurs, réservé au seul admin. Sur les quatorze cas au total, j’en ai détaillé cinq dans le dossier — consulter la programmation, envoyer un message de contact, se connecter à l’administration — avec leur scénario nominal et leurs extensions d’erreur ; les autres sont documentés dans le backlog Notion.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coder, chaque écran est passé par un zoning puis un wireframe basse fidélité sous Figma. Cette étape m’a permis de valider l’organisation des pages indépendamment de la charte graphique. Au total, treize zonings et treize wireframes couvrent l’ensemble des écrans, côté public comme côté administration. Tout a été pensé responsive — desktop, tablette et mobile — avec deux thèmes visuels distincts : un thème sombre pour le site visiteur, un thème clair pour l’administration. L’ensemble est reproduit en annexe du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a été modélisée selon la méthode Merise, du conceptuel au physique. Le MCD compte cinq entités : Utilisateur, Session, News, Artiste et Concert. Au passage au logique, chaque attribut reçoit un type PostgreSQL choisi — des UUID pour tous les identifiants, du CITEXT pour les emails et noms afin d’avoir une comparaison insensible à la casse, du VARCHAR borné, du TEXT pour les contenus longs, et du TIMESTAMPTZ pour les dates. Surtout, j’ai poussé les règles métier directement dans la base : des contraintes CHECK sur la cohérence des dates, des contraintes EXCLUDE qui empêchent deux concerts de se chevaucher, et un trigger qui limite à deux le nombre d’artistes mis en avant. J’y reviendrai en détail dans la partie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repose sur une architecture trois tiers orchestrée par Docker Compose : un frontend Next.js, une API REST Express, et une base PostgreSQL, chacune dans son propre conteneur et communiquant via un réseau Docker interne. Le frontend est exposé sur le port 3000, le backend sur le 4000. L’API est sans état : chaque requête d’administration est authentifiée par un cookie JWT httpOnly vérifié en base. Un point d’architecture que j’ai dû résoudre : le frontend appelle l’API par deux chemins différents selon qu’il s’exécute côté serveur, dans le conteneur, ou côté navigateur. Enfin, un healthcheck garantit que le backend ne tente de se connecter à la base qu’une fois celle-ci prête.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choix technique répond à un besoin précis. Next.js pour le SEO — un festival grand public doit être indexé et affiché immédiatement, ce qu’un rendu entièrement client ne permet pas. Express plutôt que NestJS pour garder le contrôle sur mon architecture en couches, avec TypeScript en mode strict sur les deux applications. PostgreSQL pour sa robustesse mais surtout pour des fonctionnalités qu’une base NoSQL n’offre pas nativement : citext pour les emails insensibles à la casse, et btree_gist pour les contraintes anti-chevauchement des concerts. Pour l’authentification, des JWT stockés dans des cookies httpOnly plutôt que dans le localStorage exposé au XSS, avec des sessions persistées en base pour pouvoir les révoquer. Et Docker Compose pour garantir un environnement reproductible entre le développement et l’intégration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backend suit une architecture en couches : routes, middlewares, contrôleurs, services optionnels, puis base de données. Le principe clé, c’est que chaque couche ne connaît que la suivante — cette isolation se traduit par un fichier dédié à chaque responsabilité, plutôt que des classes qui font tout. À noter, je n’ai pas suivi un MVC monolithique classique où le serveur rend directement la vue : ici le front et le back sont deux applications distinctes qui communiquent par HTTP. C’est la vue React qui va chercher ses données auprès de l’API de façon asynchrone, plutôt que de recevoir un rendu poussé par le serveur. Le schéma montre le trajet complet d’une requête à travers ces couches.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démonstration. Je commence par le site public. La page d’accueil est servie en rendu incrémental toutes les 60 s ; elle agrège le bandeau d’ouverture, un teaser des artistes mis en avant, les actualités récentes et les partenaires. Sur la Programmation, la liste est filtrable par jour et triée par heure de passage. Je clique un artiste pour sa fiche détaillée — photo, créneau, bio, liens YouTube/Spotify. Je passe aux Actualités puis aux Infos pratiques ; à tout moment, "Nous contacter" ouvre le formulaire en modale. Je montre le responsive sur une page. — Je passe ensuite au back-office. Je me connecte : session ouverte en base et cookie JWT httpOnly, et chaque page admin vérifie la session avant de s’afficher. Le dashboard affiche la carte profil, un compte à rebours et des raccourcis filtrés selon le rôle. Je crée un artiste avec upload d’image — c’est le cas d’essai du dossier : 201 en nominal, 400 si l’image manque. Je le modifie depuis sa page de détail. Je publie une actualité (statut brouillon/publié). Enfin la gestion des utilisateurs, réservée au rôle admin : mot de passe temporaire envoyé par email, changement imposé à la première connexion. Je me déconnecte, ce qui révoque la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bascule dans l’éditeur. 1) 05_concert_schema.sql : je montre l’extension btree_gist et les deux contraintes EXCLUDE USING gist sur la table concerts — deux concerts ne peuvent pas se chevaucher sur une même scène, ni un artiste jouer sur deux scènes en même temps. Plutôt qu’une vérification en JavaScript, faillible en accès concurrent, la base garantit la règle de façon atomique ; l’intervalle tstzrange en [) autorise un concert à commencer pile à l’heure où le précédent finit. 2) 04_artist_schema.sql : le trigger check_featured_limit compte les artistes déjà en avant en s’excluant lui-même et lève une exception au-delà de deux. 3) create_artist.controller.ts : dans le catch de ma transaction, j’intercepte cette exception et la traduis en AppError 409 ; ce même catch fait le ROLLBACK et supprime l’image déjà écrite. La base impose la règle, l’application la traduit en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bascule dans apiRequest.ts, le cœur de ma couche d’accès aux données. Je montre d’abord le type de retour : une union discriminée — soit des données et pas d’erreur, soit une ApiRequestError typée et pas de données. TypeScript force donc chaque appelant à traiter le cas d’erreur. Ensuite le fetch avec credentials: include, qui envoie le cookie httpOnly sans que je manipule le token en JavaScript. Puis, si la réponse n’est pas ok, je lève une ApiRequestError qui étend Error avec un champ status. Enfin le catch distingue trois cas : l’erreur API attendue que je remonte, une erreur technique comme le backend injoignable normalisée en 500, et un cas limite non-Error. Résultat : mes composants n’ont jamais de try/catch, ils testent juste if (result.error). Si j’ai le temps, je montre useFetch.ts et son useReducer qui consomme cette couche.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a été une préoccupation constante. Pour l’authentification, à la connexion je génère un JWT signé avec un secret stocké en variable d’environnement ; son payload ne contient que l’identifiant utilisateur et l’identifiant de session, jamais de donnée sensible. Ce token est déposé dans un cookie httpOnly — donc inaccessible en JavaScript, ce qui le protège du vol par XSS — complété par les attributs Secure et SameSite. Point important : un JWT seul ne peut pas être invalidé avant son expiration. J’ai donc associé chaque token à une session en base, ce qui permet une révocation explicite — à la déconnexion, ou en cascade quand un compte est supprimé. Enfin, le contrôle d’accès par rôle s’applique côté serveur, avec un middleware requireRole sur chaque route sensible : un appel direct à l’API avec un rôle insuffisant reçoit un 403. La protection côté frontend ne sert qu’à ne pas afficher de liens inutiles — elle n’empêche rien.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 l’authentification, j’ai appliqué une défense en profondeur. Le verrou réel des entrées, c’est la validation Zod côté backend : chaque route qui reçoit un corps de requête le valide avant d’atteindre le contrôleur, et rejette en 400 — ça s’applique quel que soit l’appelant, pas seulement mon frontend. Contre l’injection SQL, toutes les requêtes passent par des requêtes paramétrées, sans aucune concaténation de chaîne, ce qui élimine le risque structurellement. J’ai mis un rate limiting sur les points les plus exposés au brute force — la connexion et le mot de passe oublié — limité à cinq tentatives par dix minutes et par IP. Pour les uploads, je filtre le type MIME, je limite la taille, je convertis en WebP et je renomme chaque fichier avec un UUID, ce qui empêche le path traversal. Les mots de passe sont hachés avec bcrypt, jamais stockés en clair. Un CORS restreint à une seule origine, et des secrets qui vivent exclusivement dans des fichiers d’environnement, avec une validation au démarrage : si une variable manque, le serveur refuse de démarrer.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stratégie de test suit une pyramide classique. À la base, des tests unitaires qui vérifient middlewares et services en isolation, avec les dépendances mockées. Au-dessus, des tests d’intégration qui font traverser toute la chaîne Express — middlewares, contrôleur et vraie base PostgreSQL de test — via Supertest. J’ai fait le choix de ne pas faire d’end-to-end. Au total, 241 tests passent, 132 côté backend et 109 côté frontend, sans régression. Pour le jeu d’essai, j’ai retenu la fonctionnalité la plus représentative : la création d’un artiste avec upload d’image, parce qu’elle mobilise l’ensemble des couches — contrôle de rôle, upload multipart, validation Zod, conversion d’image et écriture transactionnelle sur deux tables. En cas nominal l’API répond 201 ; si l’image manque, elle renvoie un 400 avec un message explicite. Les deux résultats obtenus sont conformes.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déploiement, tout repose sur Docker Compose avec trois services, et des Dockerfiles multi-stages : passer en production consiste simplement à basculer la cible de dev vers runner, sans toucher au reste. L’intégration continue est assurée par GitHub Actions : à chaque push et chaque pull request, sur toutes les branches, deux jobs s’exécutent en parallèle sur des machines distinctes, qui lancent le lint et les tests. Le job backend démarre une vraie base PostgreSQL et attend sa disponibilité avant de tester ; le job frontend tourne sans base, ses tests reposant entièrement sur des appels réseau mockés. L’intérêt de Docker, c’est que l’environnement est strictement identique entre mon poste et la CI. Pour être transparent sur les limites : le déploiement en production n’est pas encore automatisé — j’ai documenté une procédure de déploiement continu par runner comme évolution.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organisé ma veille avec Feedly, en deux dossiers : un dossier sécurité, avec le CERT-FR et les rapports de vulnérabilités de Node, et un dossier technologique qui suit Next.js, Node, PostgreSQL, Docker et React. Pour montrer que cette veille est appliquée et pas seulement théorique, deux cas concrets. Premier cas : une fois l’application conteneurisée, le hot reload ne fonctionnait plus. Ma recherche m’a mené à une issue officielle sur le dépôt de Next.js, où plusieurs développeurs confirment que Turbopack ne respecte pas correctement le polling en environnement Docker — j’ai appliqué le contournement documenté, revenir à Webpack. Second cas : npm audit a signalé une faille modérée dans PostCSS, dépendance embarquée par Next.js. J’ai analysé le risque : PostCSS ne traite que mes propres fichiers CSS à la compilation, jamais du CSS soumis par un utilisateur — le scénario d’attaque ne s’applique pas. Comme le correctif automatique aurait forcé un retour à une version très ancienne de Next.js, j’ai décidé de ne pas l’appliquer et de surveiller une future version corrigée. Une veille, ce n’est pas juste détecter une alerte, c’est savoir en évaluer l’impact réel avant d’agir.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un mot sur les trois difficultés techniques principales que j’ai rencontrées et résolues. La première : garantir qu’aucun concert ne se chevauche — je l’ai réglée au niveau de la base avec les contraintes EXCLUDE. La deuxième : une fois l’application conteneurisée, le hot reload ne fonctionnait plus ; j’ai identifié que Turbopack ne gérait pas le polling en Docker et je suis revenu à Webpack. La troisième, la plus subtile : dans une architecture Docker, le frontend n’adresse pas le backend de la même façon selon qu’il s’exécute dans le conteneur ou dans le navigateur ; je l’ai résolue avec deux variables d’environnement distinctes. Ces trois cas montrent ma démarche : identifier précisément le problème, chercher la cause, et appliquer une solution justifiée.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m’a permis de mettre en œuvre l’ensemble des onze compétences du référentiel, réparties sur les trois activités-types — développer une application sécurisée, la concevoir en couches, et préparer son déploiement. Quant aux perspectives, plusieurs pistes sont ouvertes une fois le socle stabilisé : mettre le site en ligne avec un déploiement continu automatisé, externaliser le stockage des images vers un stockage objet, et réintégrer les fonctionnalités écartées du périmètre — la boutique de merchandising, les archives des éditions et les statistiques de fréquentation.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qui conclut ma présentation. Je vous remercie de votre attention et je suis prêt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40080" y="2148840"/>
            <a:ext cx="9144000" cy="36576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Refonte du site web</a:t>
            </a:r>
            <a:endParaRPr lang="en-US" sz="1800" dirty="0"/>
          </a:p>
        </p:txBody>
      </p:sp>
      <p:sp>
        <p:nvSpPr>
          <p:cNvPr id="3" name="Text 1"/>
          <p:cNvSpPr/>
          <p:nvPr/>
        </p:nvSpPr>
        <p:spPr>
          <a:xfrm>
            <a:off x="621792" y="2514600"/>
            <a:ext cx="10515600" cy="1143000"/>
          </a:xfrm>
          <a:prstGeom prst="rect">
            <a:avLst/>
          </a:prstGeom>
          <a:noFill/>
          <a:ln/>
        </p:spPr>
        <p:txBody>
          <a:bodyPr wrap="square" lIns="0" tIns="0" rIns="0" bIns="0" rtlCol="0" anchor="ctr"/>
          <a:lstStyle/>
          <a:p>
            <a:pPr algn="l" indent="0" marL="0">
              <a:buNone/>
            </a:pPr>
            <a:r>
              <a:rPr lang="en-US" sz="6000" b="1" spc="200" kern="0" dirty="0">
                <a:solidFill>
                  <a:srgbClr val="FFFFFF"/>
                </a:solidFill>
                <a:latin typeface="Oswald" pitchFamily="34" charset="0"/>
                <a:ea typeface="Oswald" pitchFamily="34" charset="-122"/>
                <a:cs typeface="Oswald" pitchFamily="34" charset="-120"/>
              </a:rPr>
              <a:t>VINDHELLFEST</a:t>
            </a:r>
            <a:endParaRPr lang="en-US" sz="6000" dirty="0"/>
          </a:p>
        </p:txBody>
      </p:sp>
      <p:sp>
        <p:nvSpPr>
          <p:cNvPr id="4" name="Shape 2"/>
          <p:cNvSpPr/>
          <p:nvPr/>
        </p:nvSpPr>
        <p:spPr>
          <a:xfrm>
            <a:off x="658368" y="3822192"/>
            <a:ext cx="868680" cy="64008"/>
          </a:xfrm>
          <a:prstGeom prst="rect">
            <a:avLst/>
          </a:prstGeom>
          <a:solidFill>
            <a:srgbClr val="C1121F"/>
          </a:solidFill>
          <a:ln/>
        </p:spPr>
      </p:sp>
      <p:sp>
        <p:nvSpPr>
          <p:cNvPr id="5" name="Text 3"/>
          <p:cNvSpPr/>
          <p:nvPr/>
        </p:nvSpPr>
        <p:spPr>
          <a:xfrm>
            <a:off x="640080" y="4114800"/>
            <a:ext cx="9144000" cy="36576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ARNAUD Aurélien</a:t>
            </a:r>
            <a:endParaRPr lang="en-US" sz="1800" dirty="0"/>
          </a:p>
        </p:txBody>
      </p:sp>
      <p:sp>
        <p:nvSpPr>
          <p:cNvPr id="6" name="Text 4"/>
          <p:cNvSpPr/>
          <p:nvPr/>
        </p:nvSpPr>
        <p:spPr>
          <a:xfrm>
            <a:off x="640080" y="5074920"/>
            <a:ext cx="10058400" cy="365760"/>
          </a:xfrm>
          <a:prstGeom prst="rect">
            <a:avLst/>
          </a:prstGeom>
          <a:noFill/>
          <a:ln/>
        </p:spPr>
        <p:txBody>
          <a:bodyPr wrap="square" lIns="0" tIns="0" rIns="0" bIns="0" rtlCol="0" anchor="ctr"/>
          <a:lstStyle/>
          <a:p>
            <a:pPr algn="l" indent="0" marL="0">
              <a:buNone/>
            </a:pPr>
            <a:r>
              <a:rPr lang="en-US" sz="1300" dirty="0">
                <a:solidFill>
                  <a:srgbClr val="6E6E7C"/>
                </a:solidFill>
                <a:latin typeface="Inter" pitchFamily="34" charset="0"/>
                <a:ea typeface="Inter" pitchFamily="34" charset="-122"/>
                <a:cs typeface="Inter" pitchFamily="34" charset="-120"/>
              </a:rPr>
              <a:t>Soutenance CDA — Concepteur Développeur d’Applications  ·  Juillet 2026</a:t>
            </a:r>
            <a:endParaRPr lang="en-US" sz="1300" dirty="0"/>
          </a:p>
        </p:txBody>
      </p:sp>
      <p:sp>
        <p:nvSpPr>
          <p:cNvPr id="7" name="Text 5"/>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8" name="Text 6"/>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Plan de la présentation</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Text 2"/>
          <p:cNvSpPr/>
          <p:nvPr/>
        </p:nvSpPr>
        <p:spPr>
          <a:xfrm>
            <a:off x="640080" y="2148840"/>
            <a:ext cx="548640" cy="502920"/>
          </a:xfrm>
          <a:prstGeom prst="rect">
            <a:avLst/>
          </a:prstGeom>
          <a:noFill/>
          <a:ln/>
        </p:spPr>
        <p:txBody>
          <a:bodyPr wrap="square" lIns="0" tIns="0" rIns="0" bIns="0" rtlCol="0" anchor="ctr"/>
          <a:lstStyle/>
          <a:p>
            <a:pPr algn="l" indent="0" marL="0">
              <a:buNone/>
            </a:pPr>
            <a:r>
              <a:rPr lang="en-US" sz="2400" b="1" dirty="0">
                <a:solidFill>
                  <a:srgbClr val="C1121F"/>
                </a:solidFill>
                <a:latin typeface="Oswald" pitchFamily="34" charset="0"/>
                <a:ea typeface="Oswald" pitchFamily="34" charset="-122"/>
                <a:cs typeface="Oswald" pitchFamily="34" charset="-120"/>
              </a:rPr>
              <a:t>1</a:t>
            </a:r>
            <a:endParaRPr lang="en-US" sz="2400" dirty="0"/>
          </a:p>
        </p:txBody>
      </p:sp>
      <p:sp>
        <p:nvSpPr>
          <p:cNvPr id="5" name="Text 3"/>
          <p:cNvSpPr/>
          <p:nvPr/>
        </p:nvSpPr>
        <p:spPr>
          <a:xfrm>
            <a:off x="1234440" y="2148840"/>
            <a:ext cx="4754880" cy="50292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Contexte &amp; besoins</a:t>
            </a:r>
            <a:endParaRPr lang="en-US" sz="1800" dirty="0"/>
          </a:p>
        </p:txBody>
      </p:sp>
      <p:sp>
        <p:nvSpPr>
          <p:cNvPr id="6" name="Text 4"/>
          <p:cNvSpPr/>
          <p:nvPr/>
        </p:nvSpPr>
        <p:spPr>
          <a:xfrm>
            <a:off x="640080" y="2880360"/>
            <a:ext cx="548640" cy="502920"/>
          </a:xfrm>
          <a:prstGeom prst="rect">
            <a:avLst/>
          </a:prstGeom>
          <a:noFill/>
          <a:ln/>
        </p:spPr>
        <p:txBody>
          <a:bodyPr wrap="square" lIns="0" tIns="0" rIns="0" bIns="0" rtlCol="0" anchor="ctr"/>
          <a:lstStyle/>
          <a:p>
            <a:pPr algn="l" indent="0" marL="0">
              <a:buNone/>
            </a:pPr>
            <a:r>
              <a:rPr lang="en-US" sz="2400" b="1" dirty="0">
                <a:solidFill>
                  <a:srgbClr val="C1121F"/>
                </a:solidFill>
                <a:latin typeface="Oswald" pitchFamily="34" charset="0"/>
                <a:ea typeface="Oswald" pitchFamily="34" charset="-122"/>
                <a:cs typeface="Oswald" pitchFamily="34" charset="-120"/>
              </a:rPr>
              <a:t>2</a:t>
            </a:r>
            <a:endParaRPr lang="en-US" sz="2400" dirty="0"/>
          </a:p>
        </p:txBody>
      </p:sp>
      <p:sp>
        <p:nvSpPr>
          <p:cNvPr id="7" name="Text 5"/>
          <p:cNvSpPr/>
          <p:nvPr/>
        </p:nvSpPr>
        <p:spPr>
          <a:xfrm>
            <a:off x="1234440" y="2880360"/>
            <a:ext cx="4754880" cy="50292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Gestion de projet</a:t>
            </a:r>
            <a:endParaRPr lang="en-US" sz="1800" dirty="0"/>
          </a:p>
        </p:txBody>
      </p:sp>
      <p:sp>
        <p:nvSpPr>
          <p:cNvPr id="8" name="Text 6"/>
          <p:cNvSpPr/>
          <p:nvPr/>
        </p:nvSpPr>
        <p:spPr>
          <a:xfrm>
            <a:off x="640080" y="3611880"/>
            <a:ext cx="548640" cy="502920"/>
          </a:xfrm>
          <a:prstGeom prst="rect">
            <a:avLst/>
          </a:prstGeom>
          <a:noFill/>
          <a:ln/>
        </p:spPr>
        <p:txBody>
          <a:bodyPr wrap="square" lIns="0" tIns="0" rIns="0" bIns="0" rtlCol="0" anchor="ctr"/>
          <a:lstStyle/>
          <a:p>
            <a:pPr algn="l" indent="0" marL="0">
              <a:buNone/>
            </a:pPr>
            <a:r>
              <a:rPr lang="en-US" sz="2400" b="1" dirty="0">
                <a:solidFill>
                  <a:srgbClr val="C1121F"/>
                </a:solidFill>
                <a:latin typeface="Oswald" pitchFamily="34" charset="0"/>
                <a:ea typeface="Oswald" pitchFamily="34" charset="-122"/>
                <a:cs typeface="Oswald" pitchFamily="34" charset="-120"/>
              </a:rPr>
              <a:t>3</a:t>
            </a:r>
            <a:endParaRPr lang="en-US" sz="2400" dirty="0"/>
          </a:p>
        </p:txBody>
      </p:sp>
      <p:sp>
        <p:nvSpPr>
          <p:cNvPr id="9" name="Text 7"/>
          <p:cNvSpPr/>
          <p:nvPr/>
        </p:nvSpPr>
        <p:spPr>
          <a:xfrm>
            <a:off x="1234440" y="3611880"/>
            <a:ext cx="4754880" cy="50292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Conception (UML, maquettes, BDD)</a:t>
            </a:r>
            <a:endParaRPr lang="en-US" sz="1800" dirty="0"/>
          </a:p>
        </p:txBody>
      </p:sp>
      <p:sp>
        <p:nvSpPr>
          <p:cNvPr id="10" name="Text 8"/>
          <p:cNvSpPr/>
          <p:nvPr/>
        </p:nvSpPr>
        <p:spPr>
          <a:xfrm>
            <a:off x="640080" y="4343400"/>
            <a:ext cx="548640" cy="502920"/>
          </a:xfrm>
          <a:prstGeom prst="rect">
            <a:avLst/>
          </a:prstGeom>
          <a:noFill/>
          <a:ln/>
        </p:spPr>
        <p:txBody>
          <a:bodyPr wrap="square" lIns="0" tIns="0" rIns="0" bIns="0" rtlCol="0" anchor="ctr"/>
          <a:lstStyle/>
          <a:p>
            <a:pPr algn="l" indent="0" marL="0">
              <a:buNone/>
            </a:pPr>
            <a:r>
              <a:rPr lang="en-US" sz="2400" b="1" dirty="0">
                <a:solidFill>
                  <a:srgbClr val="C1121F"/>
                </a:solidFill>
                <a:latin typeface="Oswald" pitchFamily="34" charset="0"/>
                <a:ea typeface="Oswald" pitchFamily="34" charset="-122"/>
                <a:cs typeface="Oswald" pitchFamily="34" charset="-120"/>
              </a:rPr>
              <a:t>4</a:t>
            </a:r>
            <a:endParaRPr lang="en-US" sz="2400" dirty="0"/>
          </a:p>
        </p:txBody>
      </p:sp>
      <p:sp>
        <p:nvSpPr>
          <p:cNvPr id="11" name="Text 9"/>
          <p:cNvSpPr/>
          <p:nvPr/>
        </p:nvSpPr>
        <p:spPr>
          <a:xfrm>
            <a:off x="1234440" y="4343400"/>
            <a:ext cx="4754880" cy="50292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Architecture technique</a:t>
            </a:r>
            <a:endParaRPr lang="en-US" sz="1800" dirty="0"/>
          </a:p>
        </p:txBody>
      </p:sp>
      <p:sp>
        <p:nvSpPr>
          <p:cNvPr id="12" name="Text 10"/>
          <p:cNvSpPr/>
          <p:nvPr/>
        </p:nvSpPr>
        <p:spPr>
          <a:xfrm>
            <a:off x="640080" y="5074920"/>
            <a:ext cx="548640" cy="502920"/>
          </a:xfrm>
          <a:prstGeom prst="rect">
            <a:avLst/>
          </a:prstGeom>
          <a:noFill/>
          <a:ln/>
        </p:spPr>
        <p:txBody>
          <a:bodyPr wrap="square" lIns="0" tIns="0" rIns="0" bIns="0" rtlCol="0" anchor="ctr"/>
          <a:lstStyle/>
          <a:p>
            <a:pPr algn="l" indent="0" marL="0">
              <a:buNone/>
            </a:pPr>
            <a:r>
              <a:rPr lang="en-US" sz="2400" b="1" dirty="0">
                <a:solidFill>
                  <a:srgbClr val="C1121F"/>
                </a:solidFill>
                <a:latin typeface="Oswald" pitchFamily="34" charset="0"/>
                <a:ea typeface="Oswald" pitchFamily="34" charset="-122"/>
                <a:cs typeface="Oswald" pitchFamily="34" charset="-120"/>
              </a:rPr>
              <a:t>5</a:t>
            </a:r>
            <a:endParaRPr lang="en-US" sz="2400" dirty="0"/>
          </a:p>
        </p:txBody>
      </p:sp>
      <p:sp>
        <p:nvSpPr>
          <p:cNvPr id="13" name="Text 11"/>
          <p:cNvSpPr/>
          <p:nvPr/>
        </p:nvSpPr>
        <p:spPr>
          <a:xfrm>
            <a:off x="1234440" y="5074920"/>
            <a:ext cx="4754880" cy="502920"/>
          </a:xfrm>
          <a:prstGeom prst="rect">
            <a:avLst/>
          </a:prstGeom>
          <a:noFill/>
          <a:ln/>
        </p:spPr>
        <p:txBody>
          <a:bodyPr wrap="square" lIns="0" tIns="0" rIns="0" bIns="0" rtlCol="0" anchor="ctr"/>
          <a:lstStyle/>
          <a:p>
            <a:pPr algn="l" indent="0" marL="0">
              <a:buNone/>
            </a:pPr>
            <a:r>
              <a:rPr lang="en-US" sz="1800" b="1" dirty="0">
                <a:solidFill>
                  <a:srgbClr val="C1121F"/>
                </a:solidFill>
                <a:latin typeface="Inter" pitchFamily="34" charset="0"/>
                <a:ea typeface="Inter" pitchFamily="34" charset="-122"/>
                <a:cs typeface="Inter" pitchFamily="34" charset="-120"/>
              </a:rPr>
              <a:t>Démonstration live</a:t>
            </a:r>
            <a:endParaRPr lang="en-US" sz="1800" dirty="0"/>
          </a:p>
        </p:txBody>
      </p:sp>
      <p:sp>
        <p:nvSpPr>
          <p:cNvPr id="14" name="Text 12"/>
          <p:cNvSpPr/>
          <p:nvPr/>
        </p:nvSpPr>
        <p:spPr>
          <a:xfrm>
            <a:off x="6309360" y="2148840"/>
            <a:ext cx="548640" cy="502920"/>
          </a:xfrm>
          <a:prstGeom prst="rect">
            <a:avLst/>
          </a:prstGeom>
          <a:noFill/>
          <a:ln/>
        </p:spPr>
        <p:txBody>
          <a:bodyPr wrap="square" lIns="0" tIns="0" rIns="0" bIns="0" rtlCol="0" anchor="ctr"/>
          <a:lstStyle/>
          <a:p>
            <a:pPr algn="l" indent="0" marL="0">
              <a:buNone/>
            </a:pPr>
            <a:r>
              <a:rPr lang="en-US" sz="2400" b="1" dirty="0">
                <a:solidFill>
                  <a:srgbClr val="C1121F"/>
                </a:solidFill>
                <a:latin typeface="Oswald" pitchFamily="34" charset="0"/>
                <a:ea typeface="Oswald" pitchFamily="34" charset="-122"/>
                <a:cs typeface="Oswald" pitchFamily="34" charset="-120"/>
              </a:rPr>
              <a:t>6</a:t>
            </a:r>
            <a:endParaRPr lang="en-US" sz="2400" dirty="0"/>
          </a:p>
        </p:txBody>
      </p:sp>
      <p:sp>
        <p:nvSpPr>
          <p:cNvPr id="15" name="Text 13"/>
          <p:cNvSpPr/>
          <p:nvPr/>
        </p:nvSpPr>
        <p:spPr>
          <a:xfrm>
            <a:off x="6903720" y="2148840"/>
            <a:ext cx="4572000" cy="50292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Focus code</a:t>
            </a:r>
            <a:endParaRPr lang="en-US" sz="1800" dirty="0"/>
          </a:p>
        </p:txBody>
      </p:sp>
      <p:sp>
        <p:nvSpPr>
          <p:cNvPr id="16" name="Text 14"/>
          <p:cNvSpPr/>
          <p:nvPr/>
        </p:nvSpPr>
        <p:spPr>
          <a:xfrm>
            <a:off x="6309360" y="2880360"/>
            <a:ext cx="548640" cy="502920"/>
          </a:xfrm>
          <a:prstGeom prst="rect">
            <a:avLst/>
          </a:prstGeom>
          <a:noFill/>
          <a:ln/>
        </p:spPr>
        <p:txBody>
          <a:bodyPr wrap="square" lIns="0" tIns="0" rIns="0" bIns="0" rtlCol="0" anchor="ctr"/>
          <a:lstStyle/>
          <a:p>
            <a:pPr algn="l" indent="0" marL="0">
              <a:buNone/>
            </a:pPr>
            <a:r>
              <a:rPr lang="en-US" sz="2400" b="1" dirty="0">
                <a:solidFill>
                  <a:srgbClr val="C1121F"/>
                </a:solidFill>
                <a:latin typeface="Oswald" pitchFamily="34" charset="0"/>
                <a:ea typeface="Oswald" pitchFamily="34" charset="-122"/>
                <a:cs typeface="Oswald" pitchFamily="34" charset="-120"/>
              </a:rPr>
              <a:t>7</a:t>
            </a:r>
            <a:endParaRPr lang="en-US" sz="2400" dirty="0"/>
          </a:p>
        </p:txBody>
      </p:sp>
      <p:sp>
        <p:nvSpPr>
          <p:cNvPr id="17" name="Text 15"/>
          <p:cNvSpPr/>
          <p:nvPr/>
        </p:nvSpPr>
        <p:spPr>
          <a:xfrm>
            <a:off x="6903720" y="2880360"/>
            <a:ext cx="4572000" cy="50292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Sécurité</a:t>
            </a:r>
            <a:endParaRPr lang="en-US" sz="1800" dirty="0"/>
          </a:p>
        </p:txBody>
      </p:sp>
      <p:sp>
        <p:nvSpPr>
          <p:cNvPr id="18" name="Text 16"/>
          <p:cNvSpPr/>
          <p:nvPr/>
        </p:nvSpPr>
        <p:spPr>
          <a:xfrm>
            <a:off x="6309360" y="3611880"/>
            <a:ext cx="548640" cy="502920"/>
          </a:xfrm>
          <a:prstGeom prst="rect">
            <a:avLst/>
          </a:prstGeom>
          <a:noFill/>
          <a:ln/>
        </p:spPr>
        <p:txBody>
          <a:bodyPr wrap="square" lIns="0" tIns="0" rIns="0" bIns="0" rtlCol="0" anchor="ctr"/>
          <a:lstStyle/>
          <a:p>
            <a:pPr algn="l" indent="0" marL="0">
              <a:buNone/>
            </a:pPr>
            <a:r>
              <a:rPr lang="en-US" sz="2400" b="1" dirty="0">
                <a:solidFill>
                  <a:srgbClr val="C1121F"/>
                </a:solidFill>
                <a:latin typeface="Oswald" pitchFamily="34" charset="0"/>
                <a:ea typeface="Oswald" pitchFamily="34" charset="-122"/>
                <a:cs typeface="Oswald" pitchFamily="34" charset="-120"/>
              </a:rPr>
              <a:t>8</a:t>
            </a:r>
            <a:endParaRPr lang="en-US" sz="2400" dirty="0"/>
          </a:p>
        </p:txBody>
      </p:sp>
      <p:sp>
        <p:nvSpPr>
          <p:cNvPr id="19" name="Text 17"/>
          <p:cNvSpPr/>
          <p:nvPr/>
        </p:nvSpPr>
        <p:spPr>
          <a:xfrm>
            <a:off x="6903720" y="3611880"/>
            <a:ext cx="4572000" cy="50292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Tests &amp; déploiement</a:t>
            </a:r>
            <a:endParaRPr lang="en-US" sz="1800" dirty="0"/>
          </a:p>
        </p:txBody>
      </p:sp>
      <p:sp>
        <p:nvSpPr>
          <p:cNvPr id="20" name="Text 18"/>
          <p:cNvSpPr/>
          <p:nvPr/>
        </p:nvSpPr>
        <p:spPr>
          <a:xfrm>
            <a:off x="6309360" y="4343400"/>
            <a:ext cx="548640" cy="502920"/>
          </a:xfrm>
          <a:prstGeom prst="rect">
            <a:avLst/>
          </a:prstGeom>
          <a:noFill/>
          <a:ln/>
        </p:spPr>
        <p:txBody>
          <a:bodyPr wrap="square" lIns="0" tIns="0" rIns="0" bIns="0" rtlCol="0" anchor="ctr"/>
          <a:lstStyle/>
          <a:p>
            <a:pPr algn="l" indent="0" marL="0">
              <a:buNone/>
            </a:pPr>
            <a:r>
              <a:rPr lang="en-US" sz="2400" b="1" dirty="0">
                <a:solidFill>
                  <a:srgbClr val="C1121F"/>
                </a:solidFill>
                <a:latin typeface="Oswald" pitchFamily="34" charset="0"/>
                <a:ea typeface="Oswald" pitchFamily="34" charset="-122"/>
                <a:cs typeface="Oswald" pitchFamily="34" charset="-120"/>
              </a:rPr>
              <a:t>9</a:t>
            </a:r>
            <a:endParaRPr lang="en-US" sz="2400" dirty="0"/>
          </a:p>
        </p:txBody>
      </p:sp>
      <p:sp>
        <p:nvSpPr>
          <p:cNvPr id="21" name="Text 19"/>
          <p:cNvSpPr/>
          <p:nvPr/>
        </p:nvSpPr>
        <p:spPr>
          <a:xfrm>
            <a:off x="6903720" y="4343400"/>
            <a:ext cx="4572000" cy="50292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Veille</a:t>
            </a:r>
            <a:endParaRPr lang="en-US" sz="1800" dirty="0"/>
          </a:p>
        </p:txBody>
      </p:sp>
      <p:sp>
        <p:nvSpPr>
          <p:cNvPr id="22" name="Text 20"/>
          <p:cNvSpPr/>
          <p:nvPr/>
        </p:nvSpPr>
        <p:spPr>
          <a:xfrm>
            <a:off x="6309360" y="5074920"/>
            <a:ext cx="548640" cy="502920"/>
          </a:xfrm>
          <a:prstGeom prst="rect">
            <a:avLst/>
          </a:prstGeom>
          <a:noFill/>
          <a:ln/>
        </p:spPr>
        <p:txBody>
          <a:bodyPr wrap="square" lIns="0" tIns="0" rIns="0" bIns="0" rtlCol="0" anchor="ctr"/>
          <a:lstStyle/>
          <a:p>
            <a:pPr algn="l" indent="0" marL="0">
              <a:buNone/>
            </a:pPr>
            <a:r>
              <a:rPr lang="en-US" sz="2400" b="1" dirty="0">
                <a:solidFill>
                  <a:srgbClr val="C1121F"/>
                </a:solidFill>
                <a:latin typeface="Oswald" pitchFamily="34" charset="0"/>
                <a:ea typeface="Oswald" pitchFamily="34" charset="-122"/>
                <a:cs typeface="Oswald" pitchFamily="34" charset="-120"/>
              </a:rPr>
              <a:t>10</a:t>
            </a:r>
            <a:endParaRPr lang="en-US" sz="2400" dirty="0"/>
          </a:p>
        </p:txBody>
      </p:sp>
      <p:sp>
        <p:nvSpPr>
          <p:cNvPr id="23" name="Text 21"/>
          <p:cNvSpPr/>
          <p:nvPr/>
        </p:nvSpPr>
        <p:spPr>
          <a:xfrm>
            <a:off x="6903720" y="5074920"/>
            <a:ext cx="4572000" cy="502920"/>
          </a:xfrm>
          <a:prstGeom prst="rect">
            <a:avLst/>
          </a:prstGeom>
          <a:noFill/>
          <a:ln/>
        </p:spPr>
        <p:txBody>
          <a:bodyPr wrap="square" lIns="0" tIns="0" rIns="0" bIns="0" rtlCol="0" anchor="ctr"/>
          <a:lstStyle/>
          <a:p>
            <a:pPr algn="l" indent="0" marL="0">
              <a:buNone/>
            </a:pPr>
            <a:r>
              <a:rPr lang="en-US" sz="1800" dirty="0">
                <a:solidFill>
                  <a:srgbClr val="C7C7D1"/>
                </a:solidFill>
                <a:latin typeface="Inter" pitchFamily="34" charset="0"/>
                <a:ea typeface="Inter" pitchFamily="34" charset="-122"/>
                <a:cs typeface="Inter" pitchFamily="34" charset="-120"/>
              </a:rPr>
              <a:t>Bilan</a:t>
            </a:r>
            <a:endParaRPr lang="en-US" sz="1800" dirty="0"/>
          </a:p>
        </p:txBody>
      </p:sp>
      <p:sp>
        <p:nvSpPr>
          <p:cNvPr id="24" name="Text 22"/>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25" name="Text 23"/>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Le problème</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276856"/>
            <a:ext cx="100584" cy="100584"/>
          </a:xfrm>
          <a:prstGeom prst="rect">
            <a:avLst/>
          </a:prstGeom>
          <a:solidFill>
            <a:srgbClr val="C1121F"/>
          </a:solidFill>
          <a:ln/>
        </p:spPr>
      </p:sp>
      <p:sp>
        <p:nvSpPr>
          <p:cNvPr id="5" name="Text 3"/>
          <p:cNvSpPr/>
          <p:nvPr/>
        </p:nvSpPr>
        <p:spPr>
          <a:xfrm>
            <a:off x="896112" y="2148840"/>
            <a:ext cx="58521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Site sous WordPress / PHP, design vieillissant et statique</a:t>
            </a:r>
            <a:endParaRPr lang="en-US" sz="1600" dirty="0"/>
          </a:p>
        </p:txBody>
      </p:sp>
      <p:sp>
        <p:nvSpPr>
          <p:cNvPr id="6" name="Shape 4"/>
          <p:cNvSpPr/>
          <p:nvPr/>
        </p:nvSpPr>
        <p:spPr>
          <a:xfrm>
            <a:off x="640080" y="3374136"/>
            <a:ext cx="100584" cy="100584"/>
          </a:xfrm>
          <a:prstGeom prst="rect">
            <a:avLst/>
          </a:prstGeom>
          <a:solidFill>
            <a:srgbClr val="C1121F"/>
          </a:solidFill>
          <a:ln/>
        </p:spPr>
      </p:sp>
      <p:sp>
        <p:nvSpPr>
          <p:cNvPr id="7" name="Text 5"/>
          <p:cNvSpPr/>
          <p:nvPr/>
        </p:nvSpPr>
        <p:spPr>
          <a:xfrm>
            <a:off x="896112" y="3246120"/>
            <a:ext cx="58521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Aucune page d’actualités → communication 1 à 2 fois par an</a:t>
            </a:r>
            <a:endParaRPr lang="en-US" sz="1600" dirty="0"/>
          </a:p>
        </p:txBody>
      </p:sp>
      <p:sp>
        <p:nvSpPr>
          <p:cNvPr id="8" name="Shape 6"/>
          <p:cNvSpPr/>
          <p:nvPr/>
        </p:nvSpPr>
        <p:spPr>
          <a:xfrm>
            <a:off x="640080" y="4471416"/>
            <a:ext cx="100584" cy="100584"/>
          </a:xfrm>
          <a:prstGeom prst="rect">
            <a:avLst/>
          </a:prstGeom>
          <a:solidFill>
            <a:srgbClr val="C1121F"/>
          </a:solidFill>
          <a:ln/>
        </p:spPr>
      </p:sp>
      <p:sp>
        <p:nvSpPr>
          <p:cNvPr id="9" name="Text 7"/>
          <p:cNvSpPr/>
          <p:nvPr/>
        </p:nvSpPr>
        <p:spPr>
          <a:xfrm>
            <a:off x="896112" y="4343400"/>
            <a:ext cx="58521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Chaque ajout d’artiste ou d’actu passait par un prestataire externe → lenteur, dépendance, coût</a:t>
            </a:r>
            <a:endParaRPr lang="en-US" sz="1600" dirty="0"/>
          </a:p>
        </p:txBody>
      </p:sp>
      <p:sp>
        <p:nvSpPr>
          <p:cNvPr id="10" name="Shape 8"/>
          <p:cNvSpPr/>
          <p:nvPr/>
        </p:nvSpPr>
        <p:spPr>
          <a:xfrm>
            <a:off x="7790688" y="1801368"/>
            <a:ext cx="3621024" cy="1999335"/>
          </a:xfrm>
          <a:prstGeom prst="rect">
            <a:avLst/>
          </a:prstGeom>
          <a:solidFill>
            <a:srgbClr val="14141C"/>
          </a:solidFill>
          <a:ln w="12700">
            <a:solidFill>
              <a:srgbClr val="2E2E3C"/>
            </a:solidFill>
            <a:prstDash val="solid"/>
          </a:ln>
        </p:spPr>
      </p:sp>
      <p:pic>
        <p:nvPicPr>
          <p:cNvPr id="11" name="Image 0" descr="old_accueil.png">    </p:cNvPr>
          <p:cNvPicPr>
            <a:picLocks noChangeAspect="1"/>
          </p:cNvPicPr>
          <p:nvPr/>
        </p:nvPicPr>
        <p:blipFill>
          <a:blip r:embed="rId1"/>
          <a:stretch>
            <a:fillRect/>
          </a:stretch>
        </p:blipFill>
        <p:spPr>
          <a:xfrm>
            <a:off x="7818120" y="1828800"/>
            <a:ext cx="3566160" cy="1944471"/>
          </a:xfrm>
          <a:prstGeom prst="rect">
            <a:avLst/>
          </a:prstGeom>
        </p:spPr>
      </p:pic>
      <p:sp>
        <p:nvSpPr>
          <p:cNvPr id="12" name="Shape 9"/>
          <p:cNvSpPr/>
          <p:nvPr/>
        </p:nvSpPr>
        <p:spPr>
          <a:xfrm>
            <a:off x="7790688" y="3864711"/>
            <a:ext cx="3621024" cy="1999335"/>
          </a:xfrm>
          <a:prstGeom prst="rect">
            <a:avLst/>
          </a:prstGeom>
          <a:solidFill>
            <a:srgbClr val="14141C"/>
          </a:solidFill>
          <a:ln w="12700">
            <a:solidFill>
              <a:srgbClr val="2E2E3C"/>
            </a:solidFill>
            <a:prstDash val="solid"/>
          </a:ln>
        </p:spPr>
      </p:sp>
      <p:pic>
        <p:nvPicPr>
          <p:cNvPr id="13" name="Image 1" descr="old_prog.png">    </p:cNvPr>
          <p:cNvPicPr>
            <a:picLocks noChangeAspect="1"/>
          </p:cNvPicPr>
          <p:nvPr/>
        </p:nvPicPr>
        <p:blipFill>
          <a:blip r:embed="rId2"/>
          <a:stretch>
            <a:fillRect/>
          </a:stretch>
        </p:blipFill>
        <p:spPr>
          <a:xfrm>
            <a:off x="7818120" y="3892143"/>
            <a:ext cx="3566160" cy="1944471"/>
          </a:xfrm>
          <a:prstGeom prst="rect">
            <a:avLst/>
          </a:prstGeom>
        </p:spPr>
      </p:pic>
      <p:sp>
        <p:nvSpPr>
          <p:cNvPr id="14" name="Text 10"/>
          <p:cNvSpPr/>
          <p:nvPr/>
        </p:nvSpPr>
        <p:spPr>
          <a:xfrm>
            <a:off x="7543800" y="5897880"/>
            <a:ext cx="4114800" cy="320040"/>
          </a:xfrm>
          <a:prstGeom prst="rect">
            <a:avLst/>
          </a:prstGeom>
          <a:noFill/>
          <a:ln/>
        </p:spPr>
        <p:txBody>
          <a:bodyPr wrap="square" lIns="0" tIns="0" rIns="0" bIns="0" rtlCol="0" anchor="ctr"/>
          <a:lstStyle/>
          <a:p>
            <a:pPr algn="ctr" indent="0" marL="0">
              <a:buNone/>
            </a:pPr>
            <a:r>
              <a:rPr lang="en-US" sz="1100" dirty="0">
                <a:solidFill>
                  <a:srgbClr val="6E6E7C"/>
                </a:solidFill>
                <a:latin typeface="Inter" pitchFamily="34" charset="0"/>
                <a:ea typeface="Inter" pitchFamily="34" charset="-122"/>
                <a:cs typeface="Inter" pitchFamily="34" charset="-120"/>
              </a:rPr>
              <a:t>Ancien site — vindhellfest.fr (WordPress) : accueil &amp; programmation</a:t>
            </a:r>
            <a:endParaRPr lang="en-US" sz="1100" dirty="0"/>
          </a:p>
        </p:txBody>
      </p:sp>
      <p:sp>
        <p:nvSpPr>
          <p:cNvPr id="15" name="Text 11"/>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6" name="Text 12"/>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Objectifs &amp; priorisation</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Text 2"/>
          <p:cNvSpPr/>
          <p:nvPr/>
        </p:nvSpPr>
        <p:spPr>
          <a:xfrm>
            <a:off x="640080" y="2011680"/>
            <a:ext cx="5029200" cy="320040"/>
          </a:xfrm>
          <a:prstGeom prst="rect">
            <a:avLst/>
          </a:prstGeom>
          <a:noFill/>
          <a:ln/>
        </p:spPr>
        <p:txBody>
          <a:bodyPr wrap="square" lIns="0" tIns="0" rIns="0" bIns="0" rtlCol="0" anchor="ctr"/>
          <a:lstStyle/>
          <a:p>
            <a:pPr algn="l" indent="0" marL="0">
              <a:buNone/>
            </a:pPr>
            <a:r>
              <a:rPr lang="en-US" sz="1500" b="1" spc="100" kern="0" dirty="0">
                <a:solidFill>
                  <a:srgbClr val="C1121F"/>
                </a:solidFill>
                <a:latin typeface="Oswald" pitchFamily="34" charset="0"/>
                <a:ea typeface="Oswald" pitchFamily="34" charset="-122"/>
                <a:cs typeface="Oswald" pitchFamily="34" charset="-120"/>
              </a:rPr>
              <a:t>5 OBJECTIFS</a:t>
            </a:r>
            <a:endParaRPr lang="en-US" sz="1500" dirty="0"/>
          </a:p>
        </p:txBody>
      </p:sp>
      <p:sp>
        <p:nvSpPr>
          <p:cNvPr id="5" name="Shape 3"/>
          <p:cNvSpPr/>
          <p:nvPr/>
        </p:nvSpPr>
        <p:spPr>
          <a:xfrm>
            <a:off x="640080" y="2642616"/>
            <a:ext cx="100584" cy="100584"/>
          </a:xfrm>
          <a:prstGeom prst="rect">
            <a:avLst/>
          </a:prstGeom>
          <a:solidFill>
            <a:srgbClr val="C1121F"/>
          </a:solidFill>
          <a:ln/>
        </p:spPr>
      </p:sp>
      <p:sp>
        <p:nvSpPr>
          <p:cNvPr id="6" name="Text 4"/>
          <p:cNvSpPr/>
          <p:nvPr/>
        </p:nvSpPr>
        <p:spPr>
          <a:xfrm>
            <a:off x="896112" y="2514600"/>
            <a:ext cx="49377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Modernisation de l’image</a:t>
            </a:r>
            <a:endParaRPr lang="en-US" sz="1600" dirty="0"/>
          </a:p>
        </p:txBody>
      </p:sp>
      <p:sp>
        <p:nvSpPr>
          <p:cNvPr id="7" name="Shape 5"/>
          <p:cNvSpPr/>
          <p:nvPr/>
        </p:nvSpPr>
        <p:spPr>
          <a:xfrm>
            <a:off x="640080" y="3264408"/>
            <a:ext cx="100584" cy="100584"/>
          </a:xfrm>
          <a:prstGeom prst="rect">
            <a:avLst/>
          </a:prstGeom>
          <a:solidFill>
            <a:srgbClr val="C1121F"/>
          </a:solidFill>
          <a:ln/>
        </p:spPr>
      </p:sp>
      <p:sp>
        <p:nvSpPr>
          <p:cNvPr id="8" name="Text 6"/>
          <p:cNvSpPr/>
          <p:nvPr/>
        </p:nvSpPr>
        <p:spPr>
          <a:xfrm>
            <a:off x="896112" y="3136392"/>
            <a:ext cx="49377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Vitrine publique</a:t>
            </a:r>
            <a:endParaRPr lang="en-US" sz="1600" dirty="0"/>
          </a:p>
        </p:txBody>
      </p:sp>
      <p:sp>
        <p:nvSpPr>
          <p:cNvPr id="9" name="Shape 7"/>
          <p:cNvSpPr/>
          <p:nvPr/>
        </p:nvSpPr>
        <p:spPr>
          <a:xfrm>
            <a:off x="640080" y="3886200"/>
            <a:ext cx="100584" cy="100584"/>
          </a:xfrm>
          <a:prstGeom prst="rect">
            <a:avLst/>
          </a:prstGeom>
          <a:solidFill>
            <a:srgbClr val="C1121F"/>
          </a:solidFill>
          <a:ln/>
        </p:spPr>
      </p:sp>
      <p:sp>
        <p:nvSpPr>
          <p:cNvPr id="10" name="Text 8"/>
          <p:cNvSpPr/>
          <p:nvPr/>
        </p:nvSpPr>
        <p:spPr>
          <a:xfrm>
            <a:off x="896112" y="3758184"/>
            <a:ext cx="49377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Administration autonome</a:t>
            </a:r>
            <a:endParaRPr lang="en-US" sz="1600" dirty="0"/>
          </a:p>
        </p:txBody>
      </p:sp>
      <p:sp>
        <p:nvSpPr>
          <p:cNvPr id="11" name="Shape 9"/>
          <p:cNvSpPr/>
          <p:nvPr/>
        </p:nvSpPr>
        <p:spPr>
          <a:xfrm>
            <a:off x="640080" y="4507992"/>
            <a:ext cx="100584" cy="100584"/>
          </a:xfrm>
          <a:prstGeom prst="rect">
            <a:avLst/>
          </a:prstGeom>
          <a:solidFill>
            <a:srgbClr val="C1121F"/>
          </a:solidFill>
          <a:ln/>
        </p:spPr>
      </p:sp>
      <p:sp>
        <p:nvSpPr>
          <p:cNvPr id="12" name="Text 10"/>
          <p:cNvSpPr/>
          <p:nvPr/>
        </p:nvSpPr>
        <p:spPr>
          <a:xfrm>
            <a:off x="896112" y="4379976"/>
            <a:ext cx="49377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Gestion différenciée des droits</a:t>
            </a:r>
            <a:endParaRPr lang="en-US" sz="1600" dirty="0"/>
          </a:p>
        </p:txBody>
      </p:sp>
      <p:sp>
        <p:nvSpPr>
          <p:cNvPr id="13" name="Shape 11"/>
          <p:cNvSpPr/>
          <p:nvPr/>
        </p:nvSpPr>
        <p:spPr>
          <a:xfrm>
            <a:off x="640080" y="5129784"/>
            <a:ext cx="100584" cy="100584"/>
          </a:xfrm>
          <a:prstGeom prst="rect">
            <a:avLst/>
          </a:prstGeom>
          <a:solidFill>
            <a:srgbClr val="C1121F"/>
          </a:solidFill>
          <a:ln/>
        </p:spPr>
      </p:sp>
      <p:sp>
        <p:nvSpPr>
          <p:cNvPr id="14" name="Text 12"/>
          <p:cNvSpPr/>
          <p:nvPr/>
        </p:nvSpPr>
        <p:spPr>
          <a:xfrm>
            <a:off x="896112" y="5001768"/>
            <a:ext cx="49377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Qualité &amp; maintenabilité</a:t>
            </a:r>
            <a:endParaRPr lang="en-US" sz="1600" dirty="0"/>
          </a:p>
        </p:txBody>
      </p:sp>
      <p:sp>
        <p:nvSpPr>
          <p:cNvPr id="15" name="Text 13"/>
          <p:cNvSpPr/>
          <p:nvPr/>
        </p:nvSpPr>
        <p:spPr>
          <a:xfrm>
            <a:off x="6583680" y="2011680"/>
            <a:ext cx="5029200" cy="320040"/>
          </a:xfrm>
          <a:prstGeom prst="rect">
            <a:avLst/>
          </a:prstGeom>
          <a:noFill/>
          <a:ln/>
        </p:spPr>
        <p:txBody>
          <a:bodyPr wrap="square" lIns="0" tIns="0" rIns="0" bIns="0" rtlCol="0" anchor="ctr"/>
          <a:lstStyle/>
          <a:p>
            <a:pPr algn="l" indent="0" marL="0">
              <a:buNone/>
            </a:pPr>
            <a:r>
              <a:rPr lang="en-US" sz="1500" b="1" spc="100" kern="0" dirty="0">
                <a:solidFill>
                  <a:srgbClr val="C1121F"/>
                </a:solidFill>
                <a:latin typeface="Oswald" pitchFamily="34" charset="0"/>
                <a:ea typeface="Oswald" pitchFamily="34" charset="-122"/>
                <a:cs typeface="Oswald" pitchFamily="34" charset="-120"/>
              </a:rPr>
              <a:t>PRIORISATION MOSCOW</a:t>
            </a:r>
            <a:endParaRPr lang="en-US" sz="1500" dirty="0"/>
          </a:p>
        </p:txBody>
      </p:sp>
      <p:sp>
        <p:nvSpPr>
          <p:cNvPr id="16" name="Text 14"/>
          <p:cNvSpPr/>
          <p:nvPr/>
        </p:nvSpPr>
        <p:spPr>
          <a:xfrm>
            <a:off x="6583680" y="2395728"/>
            <a:ext cx="4754880" cy="320040"/>
          </a:xfrm>
          <a:prstGeom prst="rect">
            <a:avLst/>
          </a:prstGeom>
          <a:noFill/>
          <a:ln/>
        </p:spPr>
        <p:txBody>
          <a:bodyPr wrap="square" lIns="0" tIns="0" rIns="0" bIns="0" rtlCol="0" anchor="ctr"/>
          <a:lstStyle/>
          <a:p>
            <a:pPr algn="l" indent="0" marL="0">
              <a:buNone/>
            </a:pPr>
            <a:r>
              <a:rPr lang="en-US" sz="1500" b="1" dirty="0">
                <a:solidFill>
                  <a:srgbClr val="FFFFFF"/>
                </a:solidFill>
                <a:latin typeface="Inter" pitchFamily="34" charset="0"/>
                <a:ea typeface="Inter" pitchFamily="34" charset="-122"/>
                <a:cs typeface="Inter" pitchFamily="34" charset="-120"/>
              </a:rPr>
              <a:t>Must-have</a:t>
            </a:r>
            <a:endParaRPr lang="en-US" sz="1500" dirty="0"/>
          </a:p>
        </p:txBody>
      </p:sp>
      <p:sp>
        <p:nvSpPr>
          <p:cNvPr id="17" name="Shape 15"/>
          <p:cNvSpPr/>
          <p:nvPr/>
        </p:nvSpPr>
        <p:spPr>
          <a:xfrm>
            <a:off x="6583680" y="2871216"/>
            <a:ext cx="100584" cy="100584"/>
          </a:xfrm>
          <a:prstGeom prst="rect">
            <a:avLst/>
          </a:prstGeom>
          <a:solidFill>
            <a:srgbClr val="C1121F"/>
          </a:solidFill>
          <a:ln/>
        </p:spPr>
      </p:sp>
      <p:sp>
        <p:nvSpPr>
          <p:cNvPr id="18" name="Text 16"/>
          <p:cNvSpPr/>
          <p:nvPr/>
        </p:nvSpPr>
        <p:spPr>
          <a:xfrm>
            <a:off x="6839712" y="2743200"/>
            <a:ext cx="475488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Vitrine publique</a:t>
            </a:r>
            <a:endParaRPr lang="en-US" sz="1400" dirty="0"/>
          </a:p>
        </p:txBody>
      </p:sp>
      <p:sp>
        <p:nvSpPr>
          <p:cNvPr id="19" name="Shape 17"/>
          <p:cNvSpPr/>
          <p:nvPr/>
        </p:nvSpPr>
        <p:spPr>
          <a:xfrm>
            <a:off x="6583680" y="3282696"/>
            <a:ext cx="100584" cy="100584"/>
          </a:xfrm>
          <a:prstGeom prst="rect">
            <a:avLst/>
          </a:prstGeom>
          <a:solidFill>
            <a:srgbClr val="C1121F"/>
          </a:solidFill>
          <a:ln/>
        </p:spPr>
      </p:sp>
      <p:sp>
        <p:nvSpPr>
          <p:cNvPr id="20" name="Text 18"/>
          <p:cNvSpPr/>
          <p:nvPr/>
        </p:nvSpPr>
        <p:spPr>
          <a:xfrm>
            <a:off x="6839712" y="3154680"/>
            <a:ext cx="475488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Administration autonome</a:t>
            </a:r>
            <a:endParaRPr lang="en-US" sz="1400" dirty="0"/>
          </a:p>
        </p:txBody>
      </p:sp>
      <p:sp>
        <p:nvSpPr>
          <p:cNvPr id="21" name="Shape 19"/>
          <p:cNvSpPr/>
          <p:nvPr/>
        </p:nvSpPr>
        <p:spPr>
          <a:xfrm>
            <a:off x="6583680" y="3694176"/>
            <a:ext cx="100584" cy="100584"/>
          </a:xfrm>
          <a:prstGeom prst="rect">
            <a:avLst/>
          </a:prstGeom>
          <a:solidFill>
            <a:srgbClr val="C1121F"/>
          </a:solidFill>
          <a:ln/>
        </p:spPr>
      </p:sp>
      <p:sp>
        <p:nvSpPr>
          <p:cNvPr id="22" name="Text 20"/>
          <p:cNvSpPr/>
          <p:nvPr/>
        </p:nvSpPr>
        <p:spPr>
          <a:xfrm>
            <a:off x="6839712" y="3566160"/>
            <a:ext cx="475488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Qualité &amp; maintenabilité</a:t>
            </a:r>
            <a:endParaRPr lang="en-US" sz="1400" dirty="0"/>
          </a:p>
        </p:txBody>
      </p:sp>
      <p:sp>
        <p:nvSpPr>
          <p:cNvPr id="23" name="Shape 21"/>
          <p:cNvSpPr/>
          <p:nvPr/>
        </p:nvSpPr>
        <p:spPr>
          <a:xfrm>
            <a:off x="6583680" y="4105656"/>
            <a:ext cx="100584" cy="100584"/>
          </a:xfrm>
          <a:prstGeom prst="rect">
            <a:avLst/>
          </a:prstGeom>
          <a:solidFill>
            <a:srgbClr val="C1121F"/>
          </a:solidFill>
          <a:ln/>
        </p:spPr>
      </p:sp>
      <p:sp>
        <p:nvSpPr>
          <p:cNvPr id="24" name="Text 22"/>
          <p:cNvSpPr/>
          <p:nvPr/>
        </p:nvSpPr>
        <p:spPr>
          <a:xfrm>
            <a:off x="6839712" y="3977640"/>
            <a:ext cx="475488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Accessibilité (WAVE : 0 erreur, 0 contraste)</a:t>
            </a:r>
            <a:endParaRPr lang="en-US" sz="1400" dirty="0"/>
          </a:p>
        </p:txBody>
      </p:sp>
      <p:sp>
        <p:nvSpPr>
          <p:cNvPr id="25" name="Text 23"/>
          <p:cNvSpPr/>
          <p:nvPr/>
        </p:nvSpPr>
        <p:spPr>
          <a:xfrm>
            <a:off x="6583680" y="4663440"/>
            <a:ext cx="4937760" cy="320040"/>
          </a:xfrm>
          <a:prstGeom prst="rect">
            <a:avLst/>
          </a:prstGeom>
          <a:noFill/>
          <a:ln/>
        </p:spPr>
        <p:txBody>
          <a:bodyPr wrap="square" lIns="0" tIns="0" rIns="0" bIns="0" rtlCol="0" anchor="ctr"/>
          <a:lstStyle/>
          <a:p>
            <a:pPr algn="l" indent="0" marL="0">
              <a:buNone/>
            </a:pPr>
            <a:r>
              <a:rPr lang="en-US" sz="1500" b="1" dirty="0">
                <a:solidFill>
                  <a:srgbClr val="FFFFFF"/>
                </a:solidFill>
                <a:latin typeface="Inter" pitchFamily="34" charset="0"/>
                <a:ea typeface="Inter" pitchFamily="34" charset="-122"/>
                <a:cs typeface="Inter" pitchFamily="34" charset="-120"/>
              </a:rPr>
              <a:t>Should-have (livrable sans)</a:t>
            </a:r>
            <a:endParaRPr lang="en-US" sz="1500" dirty="0"/>
          </a:p>
        </p:txBody>
      </p:sp>
      <p:sp>
        <p:nvSpPr>
          <p:cNvPr id="26" name="Shape 24"/>
          <p:cNvSpPr/>
          <p:nvPr/>
        </p:nvSpPr>
        <p:spPr>
          <a:xfrm>
            <a:off x="6583680" y="5157216"/>
            <a:ext cx="100584" cy="100584"/>
          </a:xfrm>
          <a:prstGeom prst="rect">
            <a:avLst/>
          </a:prstGeom>
          <a:solidFill>
            <a:srgbClr val="C1121F"/>
          </a:solidFill>
          <a:ln/>
        </p:spPr>
      </p:sp>
      <p:sp>
        <p:nvSpPr>
          <p:cNvPr id="27" name="Text 25"/>
          <p:cNvSpPr/>
          <p:nvPr/>
        </p:nvSpPr>
        <p:spPr>
          <a:xfrm>
            <a:off x="6839712" y="5029200"/>
            <a:ext cx="475488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Archives des éditions passées</a:t>
            </a:r>
            <a:endParaRPr lang="en-US" sz="1400" dirty="0"/>
          </a:p>
        </p:txBody>
      </p:sp>
      <p:sp>
        <p:nvSpPr>
          <p:cNvPr id="28" name="Shape 26"/>
          <p:cNvSpPr/>
          <p:nvPr/>
        </p:nvSpPr>
        <p:spPr>
          <a:xfrm>
            <a:off x="6583680" y="5568696"/>
            <a:ext cx="100584" cy="100584"/>
          </a:xfrm>
          <a:prstGeom prst="rect">
            <a:avLst/>
          </a:prstGeom>
          <a:solidFill>
            <a:srgbClr val="C1121F"/>
          </a:solidFill>
          <a:ln/>
        </p:spPr>
      </p:sp>
      <p:sp>
        <p:nvSpPr>
          <p:cNvPr id="29" name="Text 27"/>
          <p:cNvSpPr/>
          <p:nvPr/>
        </p:nvSpPr>
        <p:spPr>
          <a:xfrm>
            <a:off x="6839712" y="5440680"/>
            <a:ext cx="475488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Statistiques de fréquentation</a:t>
            </a:r>
            <a:endParaRPr lang="en-US" sz="1400" dirty="0"/>
          </a:p>
        </p:txBody>
      </p:sp>
      <p:sp>
        <p:nvSpPr>
          <p:cNvPr id="30" name="Text 28"/>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31" name="Text 29"/>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Périmètre &amp; rôles</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Text 2"/>
          <p:cNvSpPr/>
          <p:nvPr/>
        </p:nvSpPr>
        <p:spPr>
          <a:xfrm>
            <a:off x="640080" y="1920240"/>
            <a:ext cx="5486400" cy="292608"/>
          </a:xfrm>
          <a:prstGeom prst="rect">
            <a:avLst/>
          </a:prstGeom>
          <a:noFill/>
          <a:ln/>
        </p:spPr>
        <p:txBody>
          <a:bodyPr wrap="square" lIns="0" tIns="0" rIns="0" bIns="0" rtlCol="0" anchor="ctr"/>
          <a:lstStyle/>
          <a:p>
            <a:pPr algn="l" indent="0" marL="0">
              <a:buNone/>
            </a:pPr>
            <a:r>
              <a:rPr lang="en-US" sz="1500" b="1" dirty="0">
                <a:solidFill>
                  <a:srgbClr val="FFFFFF"/>
                </a:solidFill>
                <a:latin typeface="Inter" pitchFamily="34" charset="0"/>
                <a:ea typeface="Inter" pitchFamily="34" charset="-122"/>
                <a:cs typeface="Inter" pitchFamily="34" charset="-120"/>
              </a:rPr>
              <a:t>In scope</a:t>
            </a:r>
            <a:endParaRPr lang="en-US" sz="1500" dirty="0"/>
          </a:p>
        </p:txBody>
      </p:sp>
      <p:sp>
        <p:nvSpPr>
          <p:cNvPr id="5" name="Text 3"/>
          <p:cNvSpPr/>
          <p:nvPr/>
        </p:nvSpPr>
        <p:spPr>
          <a:xfrm>
            <a:off x="640080" y="2240280"/>
            <a:ext cx="5394960" cy="822960"/>
          </a:xfrm>
          <a:prstGeom prst="rect">
            <a:avLst/>
          </a:prstGeom>
          <a:noFill/>
          <a:ln/>
        </p:spPr>
        <p:txBody>
          <a:bodyPr wrap="square" lIns="0" tIns="0" rIns="0" bIns="0" rtlCol="0" anchor="t"/>
          <a:lstStyle/>
          <a:p>
            <a:pPr algn="l" indent="0" marL="0">
              <a:buNone/>
            </a:pPr>
            <a:r>
              <a:rPr lang="en-US" sz="1350" dirty="0">
                <a:solidFill>
                  <a:srgbClr val="C7C7D1"/>
                </a:solidFill>
                <a:latin typeface="Inter" pitchFamily="34" charset="0"/>
                <a:ea typeface="Inter" pitchFamily="34" charset="-122"/>
                <a:cs typeface="Inter" pitchFamily="34" charset="-120"/>
              </a:rPr>
              <a:t>Site public · admin sécurisé (CRUD artistes / actus / utilisateurs) · upload d’images · e-mails transactionnels · CI/CD</a:t>
            </a:r>
            <a:endParaRPr lang="en-US" sz="1350" dirty="0"/>
          </a:p>
        </p:txBody>
      </p:sp>
      <p:sp>
        <p:nvSpPr>
          <p:cNvPr id="6" name="Text 4"/>
          <p:cNvSpPr/>
          <p:nvPr/>
        </p:nvSpPr>
        <p:spPr>
          <a:xfrm>
            <a:off x="6309360" y="1920240"/>
            <a:ext cx="5486400" cy="292608"/>
          </a:xfrm>
          <a:prstGeom prst="rect">
            <a:avLst/>
          </a:prstGeom>
          <a:noFill/>
          <a:ln/>
        </p:spPr>
        <p:txBody>
          <a:bodyPr wrap="square" lIns="0" tIns="0" rIns="0" bIns="0" rtlCol="0" anchor="ctr"/>
          <a:lstStyle/>
          <a:p>
            <a:pPr algn="l" indent="0" marL="0">
              <a:buNone/>
            </a:pPr>
            <a:r>
              <a:rPr lang="en-US" sz="1500" b="1" dirty="0">
                <a:solidFill>
                  <a:srgbClr val="FFFFFF"/>
                </a:solidFill>
                <a:latin typeface="Inter" pitchFamily="34" charset="0"/>
                <a:ea typeface="Inter" pitchFamily="34" charset="-122"/>
                <a:cs typeface="Inter" pitchFamily="34" charset="-120"/>
              </a:rPr>
              <a:t>Out of scope</a:t>
            </a:r>
            <a:endParaRPr lang="en-US" sz="1500" dirty="0"/>
          </a:p>
        </p:txBody>
      </p:sp>
      <p:sp>
        <p:nvSpPr>
          <p:cNvPr id="7" name="Text 5"/>
          <p:cNvSpPr/>
          <p:nvPr/>
        </p:nvSpPr>
        <p:spPr>
          <a:xfrm>
            <a:off x="6309360" y="2240280"/>
            <a:ext cx="5212080" cy="822960"/>
          </a:xfrm>
          <a:prstGeom prst="rect">
            <a:avLst/>
          </a:prstGeom>
          <a:noFill/>
          <a:ln/>
        </p:spPr>
        <p:txBody>
          <a:bodyPr wrap="square" lIns="0" tIns="0" rIns="0" bIns="0" rtlCol="0" anchor="t"/>
          <a:lstStyle/>
          <a:p>
            <a:pPr algn="l" indent="0" marL="0">
              <a:buNone/>
            </a:pPr>
            <a:r>
              <a:rPr lang="en-US" sz="1350" dirty="0">
                <a:solidFill>
                  <a:srgbClr val="C7C7D1"/>
                </a:solidFill>
                <a:latin typeface="Inter" pitchFamily="34" charset="0"/>
                <a:ea typeface="Inter" pitchFamily="34" charset="-122"/>
                <a:cs typeface="Inter" pitchFamily="34" charset="-120"/>
              </a:rPr>
              <a:t>Billetterie (HelloAsso) · boutique merchandising · multilingue (site en français)</a:t>
            </a:r>
            <a:endParaRPr lang="en-US" sz="1350" dirty="0"/>
          </a:p>
        </p:txBody>
      </p:sp>
      <p:sp>
        <p:nvSpPr>
          <p:cNvPr id="8" name="Text 6"/>
          <p:cNvSpPr/>
          <p:nvPr/>
        </p:nvSpPr>
        <p:spPr>
          <a:xfrm>
            <a:off x="640080" y="3154680"/>
            <a:ext cx="10881360" cy="320040"/>
          </a:xfrm>
          <a:prstGeom prst="rect">
            <a:avLst/>
          </a:prstGeom>
          <a:noFill/>
          <a:ln/>
        </p:spPr>
        <p:txBody>
          <a:bodyPr wrap="square" lIns="0" tIns="0" rIns="0" bIns="0" rtlCol="0" anchor="ctr"/>
          <a:lstStyle/>
          <a:p>
            <a:pPr algn="l" indent="0" marL="0">
              <a:buNone/>
            </a:pPr>
            <a:r>
              <a:rPr lang="en-US" sz="1350" dirty="0">
                <a:solidFill>
                  <a:srgbClr val="6E6E7C"/>
                </a:solidFill>
                <a:latin typeface="Inter" pitchFamily="34" charset="0"/>
                <a:ea typeface="Inter" pitchFamily="34" charset="-122"/>
                <a:cs typeface="Inter" pitchFamily="34" charset="-120"/>
              </a:rPr>
              <a:t>4 profils : Visiteur public · Admin (accès complet + comptes) · Gestionnaire artists · Gestionnaire news</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3611880"/>
          <a:ext cx="10881360" cy="914400"/>
        </p:xfrm>
        <a:graphic>
          <a:graphicData uri="http://schemas.openxmlformats.org/drawingml/2006/table">
            <a:tbl>
              <a:tblPr/>
              <a:tblGrid>
                <a:gridCol w="5669280"/>
                <a:gridCol w="1737360"/>
                <a:gridCol w="1737360"/>
                <a:gridCol w="1737360"/>
              </a:tblGrid>
              <a:tr h="384048">
                <a:tc>
                  <a:txBody>
                    <a:bodyPr/>
                    <a:lstStyle/>
                    <a:p>
                      <a:pPr algn="l" indent="0" marL="0">
                        <a:buNone/>
                      </a:pPr>
                      <a:r>
                        <a:rPr lang="en-US" sz="1300" b="1" dirty="0">
                          <a:solidFill>
                            <a:srgbClr val="FFFFFF"/>
                          </a:solidFill>
                          <a:latin typeface="Inter" pitchFamily="34" charset="0"/>
                          <a:ea typeface="Inter" pitchFamily="34" charset="-122"/>
                          <a:cs typeface="Inter" pitchFamily="34" charset="-120"/>
                        </a:rPr>
                        <a:t>Fonctionnalité</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4141C"/>
                    </a:solidFill>
                  </a:tcPr>
                </a:tc>
                <a:tc>
                  <a:txBody>
                    <a:bodyPr/>
                    <a:lstStyle/>
                    <a:p>
                      <a:pPr algn="ctr" indent="0" marL="0">
                        <a:buNone/>
                      </a:pPr>
                      <a:r>
                        <a:rPr lang="en-US" sz="1300" b="1" dirty="0">
                          <a:solidFill>
                            <a:srgbClr val="FFFFFF"/>
                          </a:solidFill>
                          <a:latin typeface="Inter" pitchFamily="34" charset="0"/>
                          <a:ea typeface="Inter" pitchFamily="34" charset="-122"/>
                          <a:cs typeface="Inter" pitchFamily="34" charset="-120"/>
                        </a:rPr>
                        <a:t>admin</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4141C"/>
                    </a:solidFill>
                  </a:tcPr>
                </a:tc>
                <a:tc>
                  <a:txBody>
                    <a:bodyPr/>
                    <a:lstStyle/>
                    <a:p>
                      <a:pPr algn="ctr" indent="0" marL="0">
                        <a:buNone/>
                      </a:pPr>
                      <a:r>
                        <a:rPr lang="en-US" sz="1300" b="1" dirty="0">
                          <a:solidFill>
                            <a:srgbClr val="FFFFFF"/>
                          </a:solidFill>
                          <a:latin typeface="Inter" pitchFamily="34" charset="0"/>
                          <a:ea typeface="Inter" pitchFamily="34" charset="-122"/>
                          <a:cs typeface="Inter" pitchFamily="34" charset="-120"/>
                        </a:rPr>
                        <a:t>artists</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4141C"/>
                    </a:solidFill>
                  </a:tcPr>
                </a:tc>
                <a:tc>
                  <a:txBody>
                    <a:bodyPr/>
                    <a:lstStyle/>
                    <a:p>
                      <a:pPr algn="ctr" indent="0" marL="0">
                        <a:buNone/>
                      </a:pPr>
                      <a:r>
                        <a:rPr lang="en-US" sz="1300" b="1" dirty="0">
                          <a:solidFill>
                            <a:srgbClr val="FFFFFF"/>
                          </a:solidFill>
                          <a:latin typeface="Inter" pitchFamily="34" charset="0"/>
                          <a:ea typeface="Inter" pitchFamily="34" charset="-122"/>
                          <a:cs typeface="Inter" pitchFamily="34" charset="-120"/>
                        </a:rPr>
                        <a:t>news</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4141C"/>
                    </a:solidFill>
                  </a:tcPr>
                </a:tc>
              </a:tr>
              <a:tr h="384048">
                <a:tc>
                  <a:txBody>
                    <a:bodyPr/>
                    <a:lstStyle/>
                    <a:p>
                      <a:pPr algn="l" indent="0" marL="0">
                        <a:buNone/>
                      </a:pPr>
                      <a:r>
                        <a:rPr lang="en-US" sz="1300" dirty="0">
                          <a:solidFill>
                            <a:srgbClr val="C7C7D1"/>
                          </a:solidFill>
                          <a:latin typeface="Inter" pitchFamily="34" charset="0"/>
                          <a:ea typeface="Inter" pitchFamily="34" charset="-122"/>
                          <a:cs typeface="Inter" pitchFamily="34" charset="-120"/>
                        </a:rPr>
                        <a:t>Artistes (CRUD + upload image)</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C1121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C1121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dirty="0">
                          <a:solidFill>
                            <a:srgbClr val="6E6E7C"/>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r>
              <a:tr h="384048">
                <a:tc>
                  <a:txBody>
                    <a:bodyPr/>
                    <a:lstStyle/>
                    <a:p>
                      <a:pPr algn="l" indent="0" marL="0">
                        <a:buNone/>
                      </a:pPr>
                      <a:r>
                        <a:rPr lang="en-US" sz="1300" dirty="0">
                          <a:solidFill>
                            <a:srgbClr val="C7C7D1"/>
                          </a:solidFill>
                          <a:latin typeface="Inter" pitchFamily="34" charset="0"/>
                          <a:ea typeface="Inter" pitchFamily="34" charset="-122"/>
                          <a:cs typeface="Inter" pitchFamily="34" charset="-120"/>
                        </a:rPr>
                        <a:t>Mise en avant (is_featured)</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C1121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C1121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dirty="0">
                          <a:solidFill>
                            <a:srgbClr val="6E6E7C"/>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r>
              <a:tr h="384048">
                <a:tc>
                  <a:txBody>
                    <a:bodyPr/>
                    <a:lstStyle/>
                    <a:p>
                      <a:pPr algn="l" indent="0" marL="0">
                        <a:buNone/>
                      </a:pPr>
                      <a:r>
                        <a:rPr lang="en-US" sz="1300" dirty="0">
                          <a:solidFill>
                            <a:srgbClr val="C7C7D1"/>
                          </a:solidFill>
                          <a:latin typeface="Inter" pitchFamily="34" charset="0"/>
                          <a:ea typeface="Inter" pitchFamily="34" charset="-122"/>
                          <a:cs typeface="Inter" pitchFamily="34" charset="-120"/>
                        </a:rPr>
                        <a:t>Actualités (CRUD + brouillon/publié)</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C1121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dirty="0">
                          <a:solidFill>
                            <a:srgbClr val="6E6E7C"/>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C1121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r>
              <a:tr h="384048">
                <a:tc>
                  <a:txBody>
                    <a:bodyPr/>
                    <a:lstStyle/>
                    <a:p>
                      <a:pPr algn="l" indent="0" marL="0">
                        <a:buNone/>
                      </a:pPr>
                      <a:r>
                        <a:rPr lang="en-US" sz="1300" dirty="0">
                          <a:solidFill>
                            <a:srgbClr val="C7C7D1"/>
                          </a:solidFill>
                          <a:latin typeface="Inter" pitchFamily="34" charset="0"/>
                          <a:ea typeface="Inter" pitchFamily="34" charset="-122"/>
                          <a:cs typeface="Inter" pitchFamily="34" charset="-120"/>
                        </a:rPr>
                        <a:t>Utilisateurs (CRUD + attribution de rôle)</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C1121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dirty="0">
                          <a:solidFill>
                            <a:srgbClr val="6E6E7C"/>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dirty="0">
                          <a:solidFill>
                            <a:srgbClr val="6E6E7C"/>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r>
              <a:tr h="384048">
                <a:tc>
                  <a:txBody>
                    <a:bodyPr/>
                    <a:lstStyle/>
                    <a:p>
                      <a:pPr algn="l" indent="0" marL="0">
                        <a:buNone/>
                      </a:pPr>
                      <a:r>
                        <a:rPr lang="en-US" sz="1300" dirty="0">
                          <a:solidFill>
                            <a:srgbClr val="C7C7D1"/>
                          </a:solidFill>
                          <a:latin typeface="Inter" pitchFamily="34" charset="0"/>
                          <a:ea typeface="Inter" pitchFamily="34" charset="-122"/>
                          <a:cs typeface="Inter" pitchFamily="34" charset="-120"/>
                        </a:rPr>
                        <a:t>Changement de mot de passe</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C1121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C1121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C1121F"/>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76200" marR="762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r>
            </a:tbl>
          </a:graphicData>
        </a:graphic>
      </p:graphicFrame>
      <p:sp>
        <p:nvSpPr>
          <p:cNvPr id="10" name="Text 7"/>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1" name="Text 8"/>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Méthode &amp; organisation</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231136"/>
            <a:ext cx="100584" cy="100584"/>
          </a:xfrm>
          <a:prstGeom prst="rect">
            <a:avLst/>
          </a:prstGeom>
          <a:solidFill>
            <a:srgbClr val="C1121F"/>
          </a:solidFill>
          <a:ln/>
        </p:spPr>
      </p:sp>
      <p:sp>
        <p:nvSpPr>
          <p:cNvPr id="5" name="Text 3"/>
          <p:cNvSpPr/>
          <p:nvPr/>
        </p:nvSpPr>
        <p:spPr>
          <a:xfrm>
            <a:off x="896112" y="2103120"/>
            <a:ext cx="46634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Projet mené en autonomie, du cahier des charges à la mise en production</a:t>
            </a:r>
            <a:endParaRPr lang="en-US" sz="1600" dirty="0"/>
          </a:p>
        </p:txBody>
      </p:sp>
      <p:sp>
        <p:nvSpPr>
          <p:cNvPr id="6" name="Shape 4"/>
          <p:cNvSpPr/>
          <p:nvPr/>
        </p:nvSpPr>
        <p:spPr>
          <a:xfrm>
            <a:off x="640080" y="3328416"/>
            <a:ext cx="100584" cy="100584"/>
          </a:xfrm>
          <a:prstGeom prst="rect">
            <a:avLst/>
          </a:prstGeom>
          <a:solidFill>
            <a:srgbClr val="C1121F"/>
          </a:solidFill>
          <a:ln/>
        </p:spPr>
      </p:sp>
      <p:sp>
        <p:nvSpPr>
          <p:cNvPr id="7" name="Text 5"/>
          <p:cNvSpPr/>
          <p:nvPr/>
        </p:nvSpPr>
        <p:spPr>
          <a:xfrm>
            <a:off x="896112" y="3200400"/>
            <a:ext cx="46634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4 sous-projets interdépendants : infra Docker + CI/CD → BDD, backend, frontend</a:t>
            </a:r>
            <a:endParaRPr lang="en-US" sz="1600" dirty="0"/>
          </a:p>
        </p:txBody>
      </p:sp>
      <p:sp>
        <p:nvSpPr>
          <p:cNvPr id="8" name="Shape 6"/>
          <p:cNvSpPr/>
          <p:nvPr/>
        </p:nvSpPr>
        <p:spPr>
          <a:xfrm>
            <a:off x="640080" y="4425696"/>
            <a:ext cx="100584" cy="100584"/>
          </a:xfrm>
          <a:prstGeom prst="rect">
            <a:avLst/>
          </a:prstGeom>
          <a:solidFill>
            <a:srgbClr val="C1121F"/>
          </a:solidFill>
          <a:ln/>
        </p:spPr>
      </p:sp>
      <p:sp>
        <p:nvSpPr>
          <p:cNvPr id="9" name="Text 7"/>
          <p:cNvSpPr/>
          <p:nvPr/>
        </p:nvSpPr>
        <p:spPr>
          <a:xfrm>
            <a:off x="896112" y="4297680"/>
            <a:ext cx="46634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Back et front en parallèle, chacun avec sa doc et ses tests</a:t>
            </a:r>
            <a:endParaRPr lang="en-US" sz="1600" dirty="0"/>
          </a:p>
        </p:txBody>
      </p:sp>
      <p:sp>
        <p:nvSpPr>
          <p:cNvPr id="10" name="Shape 8"/>
          <p:cNvSpPr/>
          <p:nvPr/>
        </p:nvSpPr>
        <p:spPr>
          <a:xfrm>
            <a:off x="640080" y="5522976"/>
            <a:ext cx="100584" cy="100584"/>
          </a:xfrm>
          <a:prstGeom prst="rect">
            <a:avLst/>
          </a:prstGeom>
          <a:solidFill>
            <a:srgbClr val="C1121F"/>
          </a:solidFill>
          <a:ln/>
        </p:spPr>
      </p:sp>
      <p:sp>
        <p:nvSpPr>
          <p:cNvPr id="11" name="Text 9"/>
          <p:cNvSpPr/>
          <p:nvPr/>
        </p:nvSpPr>
        <p:spPr>
          <a:xfrm>
            <a:off x="896112" y="5394960"/>
            <a:ext cx="46634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Backlog kanban à 5 états (À faire → Terminé, + Bloqué)</a:t>
            </a:r>
            <a:endParaRPr lang="en-US" sz="1600" dirty="0"/>
          </a:p>
        </p:txBody>
      </p:sp>
      <p:sp>
        <p:nvSpPr>
          <p:cNvPr id="12" name="Shape 10"/>
          <p:cNvSpPr/>
          <p:nvPr/>
        </p:nvSpPr>
        <p:spPr>
          <a:xfrm>
            <a:off x="8247888" y="1801368"/>
            <a:ext cx="3072384" cy="3651431"/>
          </a:xfrm>
          <a:prstGeom prst="rect">
            <a:avLst/>
          </a:prstGeom>
          <a:solidFill>
            <a:srgbClr val="14141C"/>
          </a:solidFill>
          <a:ln w="12700">
            <a:solidFill>
              <a:srgbClr val="2E2E3C"/>
            </a:solidFill>
            <a:prstDash val="solid"/>
          </a:ln>
        </p:spPr>
      </p:sp>
      <p:pic>
        <p:nvPicPr>
          <p:cNvPr id="13" name="Image 0" descr="kanban.png">    </p:cNvPr>
          <p:cNvPicPr>
            <a:picLocks noChangeAspect="1"/>
          </p:cNvPicPr>
          <p:nvPr/>
        </p:nvPicPr>
        <p:blipFill>
          <a:blip r:embed="rId1"/>
          <a:stretch>
            <a:fillRect/>
          </a:stretch>
        </p:blipFill>
        <p:spPr>
          <a:xfrm>
            <a:off x="8275320" y="1828800"/>
            <a:ext cx="3017520" cy="3596567"/>
          </a:xfrm>
          <a:prstGeom prst="rect">
            <a:avLst/>
          </a:prstGeom>
        </p:spPr>
      </p:pic>
      <p:sp>
        <p:nvSpPr>
          <p:cNvPr id="14" name="Text 11"/>
          <p:cNvSpPr/>
          <p:nvPr/>
        </p:nvSpPr>
        <p:spPr>
          <a:xfrm>
            <a:off x="7909560" y="5498519"/>
            <a:ext cx="3749040" cy="274320"/>
          </a:xfrm>
          <a:prstGeom prst="rect">
            <a:avLst/>
          </a:prstGeom>
          <a:noFill/>
          <a:ln/>
        </p:spPr>
        <p:txBody>
          <a:bodyPr wrap="square" lIns="0" tIns="0" rIns="0" bIns="0" rtlCol="0" anchor="ctr"/>
          <a:lstStyle/>
          <a:p>
            <a:pPr algn="ctr" indent="0" marL="0">
              <a:buNone/>
            </a:pPr>
            <a:r>
              <a:rPr lang="en-US" sz="1100" dirty="0">
                <a:solidFill>
                  <a:srgbClr val="6E6E7C"/>
                </a:solidFill>
                <a:latin typeface="Inter" pitchFamily="34" charset="0"/>
                <a:ea typeface="Inter" pitchFamily="34" charset="-122"/>
                <a:cs typeface="Inter" pitchFamily="34" charset="-120"/>
              </a:rPr>
              <a:t>Exemple de carte backlog (Notion)</a:t>
            </a:r>
            <a:endParaRPr lang="en-US" sz="1100" dirty="0"/>
          </a:p>
        </p:txBody>
      </p:sp>
      <p:sp>
        <p:nvSpPr>
          <p:cNvPr id="15" name="Text 12"/>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6" name="Text 13"/>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Rétroplanning &amp; outils</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1633576" y="1755648"/>
            <a:ext cx="8924544" cy="3403177"/>
          </a:xfrm>
          <a:prstGeom prst="rect">
            <a:avLst/>
          </a:prstGeom>
          <a:solidFill>
            <a:srgbClr val="14141C"/>
          </a:solidFill>
          <a:ln w="12700">
            <a:solidFill>
              <a:srgbClr val="2E2E3C"/>
            </a:solidFill>
            <a:prstDash val="solid"/>
          </a:ln>
        </p:spPr>
      </p:sp>
      <p:pic>
        <p:nvPicPr>
          <p:cNvPr id="5" name="Image 0" descr="gantt.png">    </p:cNvPr>
          <p:cNvPicPr>
            <a:picLocks noChangeAspect="1"/>
          </p:cNvPicPr>
          <p:nvPr/>
        </p:nvPicPr>
        <p:blipFill>
          <a:blip r:embed="rId1"/>
          <a:stretch>
            <a:fillRect/>
          </a:stretch>
        </p:blipFill>
        <p:spPr>
          <a:xfrm>
            <a:off x="1661008" y="1783080"/>
            <a:ext cx="8869680" cy="3348313"/>
          </a:xfrm>
          <a:prstGeom prst="rect">
            <a:avLst/>
          </a:prstGeom>
        </p:spPr>
      </p:pic>
      <p:sp>
        <p:nvSpPr>
          <p:cNvPr id="6" name="Text 3"/>
          <p:cNvSpPr/>
          <p:nvPr/>
        </p:nvSpPr>
        <p:spPr>
          <a:xfrm>
            <a:off x="1661008" y="5186257"/>
            <a:ext cx="8869680" cy="274320"/>
          </a:xfrm>
          <a:prstGeom prst="rect">
            <a:avLst/>
          </a:prstGeom>
          <a:noFill/>
          <a:ln/>
        </p:spPr>
        <p:txBody>
          <a:bodyPr wrap="square" lIns="0" tIns="0" rIns="0" bIns="0" rtlCol="0" anchor="ctr"/>
          <a:lstStyle/>
          <a:p>
            <a:pPr algn="ctr" indent="0" marL="0">
              <a:buNone/>
            </a:pPr>
            <a:r>
              <a:rPr lang="en-US" sz="1100" dirty="0">
                <a:solidFill>
                  <a:srgbClr val="6E6E7C"/>
                </a:solidFill>
                <a:latin typeface="Inter" pitchFamily="34" charset="0"/>
                <a:ea typeface="Inter" pitchFamily="34" charset="-122"/>
                <a:cs typeface="Inter" pitchFamily="34" charset="-120"/>
              </a:rPr>
              <a:t>Rétroplanning — 5 phases (backend &amp; frontend chevauchés) et 2 jalons</a:t>
            </a:r>
            <a:endParaRPr lang="en-US" sz="1100" dirty="0"/>
          </a:p>
        </p:txBody>
      </p:sp>
      <p:sp>
        <p:nvSpPr>
          <p:cNvPr id="7" name="Shape 4"/>
          <p:cNvSpPr/>
          <p:nvPr/>
        </p:nvSpPr>
        <p:spPr>
          <a:xfrm>
            <a:off x="640080" y="5568696"/>
            <a:ext cx="100584" cy="100584"/>
          </a:xfrm>
          <a:prstGeom prst="rect">
            <a:avLst/>
          </a:prstGeom>
          <a:solidFill>
            <a:srgbClr val="C1121F"/>
          </a:solidFill>
          <a:ln/>
        </p:spPr>
      </p:sp>
      <p:sp>
        <p:nvSpPr>
          <p:cNvPr id="8" name="Text 5"/>
          <p:cNvSpPr/>
          <p:nvPr/>
        </p:nvSpPr>
        <p:spPr>
          <a:xfrm>
            <a:off x="896112" y="5440680"/>
            <a:ext cx="1097280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Jalons : remise du dossier 12 juil. · soutenance 27-30 juil. 2026</a:t>
            </a:r>
            <a:endParaRPr lang="en-US" sz="1400" dirty="0"/>
          </a:p>
        </p:txBody>
      </p:sp>
      <p:sp>
        <p:nvSpPr>
          <p:cNvPr id="9" name="Shape 6"/>
          <p:cNvSpPr/>
          <p:nvPr/>
        </p:nvSpPr>
        <p:spPr>
          <a:xfrm>
            <a:off x="640080" y="5980176"/>
            <a:ext cx="100584" cy="100584"/>
          </a:xfrm>
          <a:prstGeom prst="rect">
            <a:avLst/>
          </a:prstGeom>
          <a:solidFill>
            <a:srgbClr val="C1121F"/>
          </a:solidFill>
          <a:ln/>
        </p:spPr>
      </p:sp>
      <p:sp>
        <p:nvSpPr>
          <p:cNvPr id="10" name="Text 7"/>
          <p:cNvSpPr/>
          <p:nvPr/>
        </p:nvSpPr>
        <p:spPr>
          <a:xfrm>
            <a:off x="896112" y="5852160"/>
            <a:ext cx="1097280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Outils : Git/GitHub · GitHub Actions (2 jobs) · Docker Compose · draw.io / pgAdmin · Figma · VS Code</a:t>
            </a:r>
            <a:endParaRPr lang="en-US" sz="1400" dirty="0"/>
          </a:p>
        </p:txBody>
      </p:sp>
      <p:sp>
        <p:nvSpPr>
          <p:cNvPr id="11" name="Text 8"/>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2" name="Text 9"/>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Cas d’utilisation</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231136"/>
            <a:ext cx="100584" cy="100584"/>
          </a:xfrm>
          <a:prstGeom prst="rect">
            <a:avLst/>
          </a:prstGeom>
          <a:solidFill>
            <a:srgbClr val="C1121F"/>
          </a:solidFill>
          <a:ln/>
        </p:spPr>
      </p:sp>
      <p:sp>
        <p:nvSpPr>
          <p:cNvPr id="5" name="Text 3"/>
          <p:cNvSpPr/>
          <p:nvPr/>
        </p:nvSpPr>
        <p:spPr>
          <a:xfrm>
            <a:off x="896112" y="2103120"/>
            <a:ext cx="44805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2 acteurs : Visiteur (sans authentification) · Administrateur (admin / artists / news)</a:t>
            </a:r>
            <a:endParaRPr lang="en-US" sz="1600" dirty="0"/>
          </a:p>
        </p:txBody>
      </p:sp>
      <p:sp>
        <p:nvSpPr>
          <p:cNvPr id="6" name="Shape 4"/>
          <p:cNvSpPr/>
          <p:nvPr/>
        </p:nvSpPr>
        <p:spPr>
          <a:xfrm>
            <a:off x="640080" y="3328416"/>
            <a:ext cx="100584" cy="100584"/>
          </a:xfrm>
          <a:prstGeom prst="rect">
            <a:avLst/>
          </a:prstGeom>
          <a:solidFill>
            <a:srgbClr val="C1121F"/>
          </a:solidFill>
          <a:ln/>
        </p:spPr>
      </p:sp>
      <p:sp>
        <p:nvSpPr>
          <p:cNvPr id="7" name="Text 5"/>
          <p:cNvSpPr/>
          <p:nvPr/>
        </p:nvSpPr>
        <p:spPr>
          <a:xfrm>
            <a:off x="896112" y="3200400"/>
            <a:ext cx="44805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Visiteur — 7 cas publics : accueil, programmation, artiste, actualités, infos, contact</a:t>
            </a:r>
            <a:endParaRPr lang="en-US" sz="1600" dirty="0"/>
          </a:p>
        </p:txBody>
      </p:sp>
      <p:sp>
        <p:nvSpPr>
          <p:cNvPr id="8" name="Shape 6"/>
          <p:cNvSpPr/>
          <p:nvPr/>
        </p:nvSpPr>
        <p:spPr>
          <a:xfrm>
            <a:off x="640080" y="4425696"/>
            <a:ext cx="100584" cy="100584"/>
          </a:xfrm>
          <a:prstGeom prst="rect">
            <a:avLst/>
          </a:prstGeom>
          <a:solidFill>
            <a:srgbClr val="C1121F"/>
          </a:solidFill>
          <a:ln/>
        </p:spPr>
      </p:sp>
      <p:sp>
        <p:nvSpPr>
          <p:cNvPr id="9" name="Text 7"/>
          <p:cNvSpPr/>
          <p:nvPr/>
        </p:nvSpPr>
        <p:spPr>
          <a:xfrm>
            <a:off x="896112" y="4297680"/>
            <a:ext cx="44805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Admin — 4 cas communs (connexion, dashboard, mot de passe, déconnexion)</a:t>
            </a:r>
            <a:endParaRPr lang="en-US" sz="1600" dirty="0"/>
          </a:p>
        </p:txBody>
      </p:sp>
      <p:sp>
        <p:nvSpPr>
          <p:cNvPr id="10" name="Shape 8"/>
          <p:cNvSpPr/>
          <p:nvPr/>
        </p:nvSpPr>
        <p:spPr>
          <a:xfrm>
            <a:off x="640080" y="5340096"/>
            <a:ext cx="100584" cy="100584"/>
          </a:xfrm>
          <a:prstGeom prst="rect">
            <a:avLst/>
          </a:prstGeom>
          <a:solidFill>
            <a:srgbClr val="C1121F"/>
          </a:solidFill>
          <a:ln/>
        </p:spPr>
      </p:sp>
      <p:sp>
        <p:nvSpPr>
          <p:cNvPr id="11" name="Text 9"/>
          <p:cNvSpPr/>
          <p:nvPr/>
        </p:nvSpPr>
        <p:spPr>
          <a:xfrm>
            <a:off x="896112" y="5212080"/>
            <a:ext cx="44805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+ 3 cas restreints : artistes (admin+artists), actus (admin+news), utilisateurs (admin)</a:t>
            </a:r>
            <a:endParaRPr lang="en-US" sz="1600" dirty="0"/>
          </a:p>
        </p:txBody>
      </p:sp>
      <p:sp>
        <p:nvSpPr>
          <p:cNvPr id="12" name="Shape 10"/>
          <p:cNvSpPr/>
          <p:nvPr/>
        </p:nvSpPr>
        <p:spPr>
          <a:xfrm>
            <a:off x="6281928" y="1801368"/>
            <a:ext cx="5151501" cy="4215384"/>
          </a:xfrm>
          <a:prstGeom prst="rect">
            <a:avLst/>
          </a:prstGeom>
          <a:solidFill>
            <a:srgbClr val="14141C"/>
          </a:solidFill>
          <a:ln w="12700">
            <a:solidFill>
              <a:srgbClr val="2E2E3C"/>
            </a:solidFill>
            <a:prstDash val="solid"/>
          </a:ln>
        </p:spPr>
      </p:sp>
      <p:pic>
        <p:nvPicPr>
          <p:cNvPr id="13" name="Image 0" descr="uc.png">    </p:cNvPr>
          <p:cNvPicPr>
            <a:picLocks noChangeAspect="1"/>
          </p:cNvPicPr>
          <p:nvPr/>
        </p:nvPicPr>
        <p:blipFill>
          <a:blip r:embed="rId1"/>
          <a:stretch>
            <a:fillRect/>
          </a:stretch>
        </p:blipFill>
        <p:spPr>
          <a:xfrm>
            <a:off x="6309360" y="1828800"/>
            <a:ext cx="5096637" cy="4160520"/>
          </a:xfrm>
          <a:prstGeom prst="rect">
            <a:avLst/>
          </a:prstGeom>
        </p:spPr>
      </p:pic>
      <p:sp>
        <p:nvSpPr>
          <p:cNvPr id="14" name="Text 11"/>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5" name="Text 12"/>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Maquettes &amp; design</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231136"/>
            <a:ext cx="100584" cy="100584"/>
          </a:xfrm>
          <a:prstGeom prst="rect">
            <a:avLst/>
          </a:prstGeom>
          <a:solidFill>
            <a:srgbClr val="C1121F"/>
          </a:solidFill>
          <a:ln/>
        </p:spPr>
      </p:sp>
      <p:sp>
        <p:nvSpPr>
          <p:cNvPr id="5" name="Text 3"/>
          <p:cNvSpPr/>
          <p:nvPr/>
        </p:nvSpPr>
        <p:spPr>
          <a:xfrm>
            <a:off x="896112" y="2103120"/>
            <a:ext cx="51206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Démarche Figma : zoning → wireframe basse fidélité → maquette</a:t>
            </a:r>
            <a:endParaRPr lang="en-US" sz="1600" dirty="0"/>
          </a:p>
        </p:txBody>
      </p:sp>
      <p:sp>
        <p:nvSpPr>
          <p:cNvPr id="6" name="Shape 4"/>
          <p:cNvSpPr/>
          <p:nvPr/>
        </p:nvSpPr>
        <p:spPr>
          <a:xfrm>
            <a:off x="640080" y="3236976"/>
            <a:ext cx="100584" cy="100584"/>
          </a:xfrm>
          <a:prstGeom prst="rect">
            <a:avLst/>
          </a:prstGeom>
          <a:solidFill>
            <a:srgbClr val="C1121F"/>
          </a:solidFill>
          <a:ln/>
        </p:spPr>
      </p:sp>
      <p:sp>
        <p:nvSpPr>
          <p:cNvPr id="7" name="Text 5"/>
          <p:cNvSpPr/>
          <p:nvPr/>
        </p:nvSpPr>
        <p:spPr>
          <a:xfrm>
            <a:off x="896112" y="3108960"/>
            <a:ext cx="51206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13 zonings + 13 wireframes couvrant tous les écrans (public + admin)</a:t>
            </a:r>
            <a:endParaRPr lang="en-US" sz="1600" dirty="0"/>
          </a:p>
        </p:txBody>
      </p:sp>
      <p:sp>
        <p:nvSpPr>
          <p:cNvPr id="8" name="Shape 6"/>
          <p:cNvSpPr/>
          <p:nvPr/>
        </p:nvSpPr>
        <p:spPr>
          <a:xfrm>
            <a:off x="640080" y="4242816"/>
            <a:ext cx="100584" cy="100584"/>
          </a:xfrm>
          <a:prstGeom prst="rect">
            <a:avLst/>
          </a:prstGeom>
          <a:solidFill>
            <a:srgbClr val="C1121F"/>
          </a:solidFill>
          <a:ln/>
        </p:spPr>
      </p:sp>
      <p:sp>
        <p:nvSpPr>
          <p:cNvPr id="9" name="Text 7"/>
          <p:cNvSpPr/>
          <p:nvPr/>
        </p:nvSpPr>
        <p:spPr>
          <a:xfrm>
            <a:off x="896112" y="4114800"/>
            <a:ext cx="51206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Structure validée avant la charte graphique</a:t>
            </a:r>
            <a:endParaRPr lang="en-US" sz="1600" dirty="0"/>
          </a:p>
        </p:txBody>
      </p:sp>
      <p:sp>
        <p:nvSpPr>
          <p:cNvPr id="10" name="Shape 8"/>
          <p:cNvSpPr/>
          <p:nvPr/>
        </p:nvSpPr>
        <p:spPr>
          <a:xfrm>
            <a:off x="640080" y="5248656"/>
            <a:ext cx="100584" cy="100584"/>
          </a:xfrm>
          <a:prstGeom prst="rect">
            <a:avLst/>
          </a:prstGeom>
          <a:solidFill>
            <a:srgbClr val="C1121F"/>
          </a:solidFill>
          <a:ln/>
        </p:spPr>
      </p:sp>
      <p:sp>
        <p:nvSpPr>
          <p:cNvPr id="11" name="Text 9"/>
          <p:cNvSpPr/>
          <p:nvPr/>
        </p:nvSpPr>
        <p:spPr>
          <a:xfrm>
            <a:off x="896112" y="5120640"/>
            <a:ext cx="51206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Responsive desktop / tablette / mobile · 2 thèmes (visitor sombre, admin clair)</a:t>
            </a:r>
            <a:endParaRPr lang="en-US" sz="1600" dirty="0"/>
          </a:p>
        </p:txBody>
      </p:sp>
      <p:sp>
        <p:nvSpPr>
          <p:cNvPr id="12" name="Shape 10"/>
          <p:cNvSpPr/>
          <p:nvPr/>
        </p:nvSpPr>
        <p:spPr>
          <a:xfrm>
            <a:off x="6647688" y="1801368"/>
            <a:ext cx="2230633" cy="4032504"/>
          </a:xfrm>
          <a:prstGeom prst="rect">
            <a:avLst/>
          </a:prstGeom>
          <a:solidFill>
            <a:srgbClr val="14141C"/>
          </a:solidFill>
          <a:ln w="12700">
            <a:solidFill>
              <a:srgbClr val="2E2E3C"/>
            </a:solidFill>
            <a:prstDash val="solid"/>
          </a:ln>
        </p:spPr>
      </p:sp>
      <p:pic>
        <p:nvPicPr>
          <p:cNvPr id="13" name="Image 0" descr="zoning.png">    </p:cNvPr>
          <p:cNvPicPr>
            <a:picLocks noChangeAspect="1"/>
          </p:cNvPicPr>
          <p:nvPr/>
        </p:nvPicPr>
        <p:blipFill>
          <a:blip r:embed="rId1"/>
          <a:stretch>
            <a:fillRect/>
          </a:stretch>
        </p:blipFill>
        <p:spPr>
          <a:xfrm>
            <a:off x="6675120" y="1828800"/>
            <a:ext cx="2175769" cy="3977640"/>
          </a:xfrm>
          <a:prstGeom prst="rect">
            <a:avLst/>
          </a:prstGeom>
        </p:spPr>
      </p:pic>
      <p:sp>
        <p:nvSpPr>
          <p:cNvPr id="14" name="Text 11"/>
          <p:cNvSpPr/>
          <p:nvPr/>
        </p:nvSpPr>
        <p:spPr>
          <a:xfrm>
            <a:off x="6400800" y="5861304"/>
            <a:ext cx="2724409" cy="274320"/>
          </a:xfrm>
          <a:prstGeom prst="rect">
            <a:avLst/>
          </a:prstGeom>
          <a:noFill/>
          <a:ln/>
        </p:spPr>
        <p:txBody>
          <a:bodyPr wrap="square" lIns="0" tIns="0" rIns="0" bIns="0" rtlCol="0" anchor="ctr"/>
          <a:lstStyle/>
          <a:p>
            <a:pPr algn="ctr" indent="0" marL="0">
              <a:buNone/>
            </a:pPr>
            <a:r>
              <a:rPr lang="en-US" sz="1200" dirty="0">
                <a:solidFill>
                  <a:srgbClr val="6E6E7C"/>
                </a:solidFill>
                <a:latin typeface="Inter" pitchFamily="34" charset="0"/>
                <a:ea typeface="Inter" pitchFamily="34" charset="-122"/>
                <a:cs typeface="Inter" pitchFamily="34" charset="-120"/>
              </a:rPr>
              <a:t>Zoning</a:t>
            </a:r>
            <a:endParaRPr lang="en-US" sz="1200" dirty="0"/>
          </a:p>
        </p:txBody>
      </p:sp>
      <p:sp>
        <p:nvSpPr>
          <p:cNvPr id="15" name="Shape 12"/>
          <p:cNvSpPr/>
          <p:nvPr/>
        </p:nvSpPr>
        <p:spPr>
          <a:xfrm>
            <a:off x="9326377" y="1801368"/>
            <a:ext cx="2230633" cy="4032504"/>
          </a:xfrm>
          <a:prstGeom prst="rect">
            <a:avLst/>
          </a:prstGeom>
          <a:solidFill>
            <a:srgbClr val="14141C"/>
          </a:solidFill>
          <a:ln w="12700">
            <a:solidFill>
              <a:srgbClr val="2E2E3C"/>
            </a:solidFill>
            <a:prstDash val="solid"/>
          </a:ln>
        </p:spPr>
      </p:sp>
      <p:pic>
        <p:nvPicPr>
          <p:cNvPr id="16" name="Image 1" descr="wireframe.png">    </p:cNvPr>
          <p:cNvPicPr>
            <a:picLocks noChangeAspect="1"/>
          </p:cNvPicPr>
          <p:nvPr/>
        </p:nvPicPr>
        <p:blipFill>
          <a:blip r:embed="rId2"/>
          <a:stretch>
            <a:fillRect/>
          </a:stretch>
        </p:blipFill>
        <p:spPr>
          <a:xfrm>
            <a:off x="9353809" y="1828800"/>
            <a:ext cx="2175769" cy="3977640"/>
          </a:xfrm>
          <a:prstGeom prst="rect">
            <a:avLst/>
          </a:prstGeom>
        </p:spPr>
      </p:pic>
      <p:sp>
        <p:nvSpPr>
          <p:cNvPr id="17" name="Text 13"/>
          <p:cNvSpPr/>
          <p:nvPr/>
        </p:nvSpPr>
        <p:spPr>
          <a:xfrm>
            <a:off x="9079489" y="5861304"/>
            <a:ext cx="2724409" cy="274320"/>
          </a:xfrm>
          <a:prstGeom prst="rect">
            <a:avLst/>
          </a:prstGeom>
          <a:noFill/>
          <a:ln/>
        </p:spPr>
        <p:txBody>
          <a:bodyPr wrap="square" lIns="0" tIns="0" rIns="0" bIns="0" rtlCol="0" anchor="ctr"/>
          <a:lstStyle/>
          <a:p>
            <a:pPr algn="ctr" indent="0" marL="0">
              <a:buNone/>
            </a:pPr>
            <a:r>
              <a:rPr lang="en-US" sz="1200" dirty="0">
                <a:solidFill>
                  <a:srgbClr val="6E6E7C"/>
                </a:solidFill>
                <a:latin typeface="Inter" pitchFamily="34" charset="0"/>
                <a:ea typeface="Inter" pitchFamily="34" charset="-122"/>
                <a:cs typeface="Inter" pitchFamily="34" charset="-120"/>
              </a:rPr>
              <a:t>Wireframe</a:t>
            </a:r>
            <a:endParaRPr lang="en-US" sz="1200" dirty="0"/>
          </a:p>
        </p:txBody>
      </p:sp>
      <p:sp>
        <p:nvSpPr>
          <p:cNvPr id="18" name="Text 14"/>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9" name="Text 15"/>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Modélisation de la base (MCD → MLD → MPD)</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231136"/>
            <a:ext cx="100584" cy="100584"/>
          </a:xfrm>
          <a:prstGeom prst="rect">
            <a:avLst/>
          </a:prstGeom>
          <a:solidFill>
            <a:srgbClr val="C1121F"/>
          </a:solidFill>
          <a:ln/>
        </p:spPr>
      </p:sp>
      <p:sp>
        <p:nvSpPr>
          <p:cNvPr id="5" name="Text 3"/>
          <p:cNvSpPr/>
          <p:nvPr/>
        </p:nvSpPr>
        <p:spPr>
          <a:xfrm>
            <a:off x="896112" y="2103120"/>
            <a:ext cx="44805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Démarche Merise : MCD → MLD → MPD</a:t>
            </a:r>
            <a:endParaRPr lang="en-US" sz="1600" dirty="0"/>
          </a:p>
        </p:txBody>
      </p:sp>
      <p:sp>
        <p:nvSpPr>
          <p:cNvPr id="6" name="Shape 4"/>
          <p:cNvSpPr/>
          <p:nvPr/>
        </p:nvSpPr>
        <p:spPr>
          <a:xfrm>
            <a:off x="640080" y="3191256"/>
            <a:ext cx="100584" cy="100584"/>
          </a:xfrm>
          <a:prstGeom prst="rect">
            <a:avLst/>
          </a:prstGeom>
          <a:solidFill>
            <a:srgbClr val="C1121F"/>
          </a:solidFill>
          <a:ln/>
        </p:spPr>
      </p:sp>
      <p:sp>
        <p:nvSpPr>
          <p:cNvPr id="7" name="Text 5"/>
          <p:cNvSpPr/>
          <p:nvPr/>
        </p:nvSpPr>
        <p:spPr>
          <a:xfrm>
            <a:off x="896112" y="3063240"/>
            <a:ext cx="44805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5 entités : Utilisateur, Session, News, Artiste, Concert</a:t>
            </a:r>
            <a:endParaRPr lang="en-US" sz="1600" dirty="0"/>
          </a:p>
        </p:txBody>
      </p:sp>
      <p:sp>
        <p:nvSpPr>
          <p:cNvPr id="8" name="Shape 6"/>
          <p:cNvSpPr/>
          <p:nvPr/>
        </p:nvSpPr>
        <p:spPr>
          <a:xfrm>
            <a:off x="640080" y="4151376"/>
            <a:ext cx="100584" cy="100584"/>
          </a:xfrm>
          <a:prstGeom prst="rect">
            <a:avLst/>
          </a:prstGeom>
          <a:solidFill>
            <a:srgbClr val="C1121F"/>
          </a:solidFill>
          <a:ln/>
        </p:spPr>
      </p:sp>
      <p:sp>
        <p:nvSpPr>
          <p:cNvPr id="9" name="Text 7"/>
          <p:cNvSpPr/>
          <p:nvPr/>
        </p:nvSpPr>
        <p:spPr>
          <a:xfrm>
            <a:off x="896112" y="4023360"/>
            <a:ext cx="44805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Types PostgreSQL : UUID, CITEXT, VARCHAR, TEXT, BOOLEAN, TIMESTAMPTZ</a:t>
            </a:r>
            <a:endParaRPr lang="en-US" sz="1600" dirty="0"/>
          </a:p>
        </p:txBody>
      </p:sp>
      <p:sp>
        <p:nvSpPr>
          <p:cNvPr id="10" name="Shape 8"/>
          <p:cNvSpPr/>
          <p:nvPr/>
        </p:nvSpPr>
        <p:spPr>
          <a:xfrm>
            <a:off x="640080" y="5157216"/>
            <a:ext cx="100584" cy="100584"/>
          </a:xfrm>
          <a:prstGeom prst="rect">
            <a:avLst/>
          </a:prstGeom>
          <a:solidFill>
            <a:srgbClr val="C1121F"/>
          </a:solidFill>
          <a:ln/>
        </p:spPr>
      </p:sp>
      <p:sp>
        <p:nvSpPr>
          <p:cNvPr id="11" name="Text 9"/>
          <p:cNvSpPr/>
          <p:nvPr/>
        </p:nvSpPr>
        <p:spPr>
          <a:xfrm>
            <a:off x="896112" y="5029200"/>
            <a:ext cx="448056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Règles métier en base : CHECK, EXCLUDE (anti-chevauchement), trigger « max 2 en avant »</a:t>
            </a:r>
            <a:endParaRPr lang="en-US" sz="1600" dirty="0"/>
          </a:p>
        </p:txBody>
      </p:sp>
      <p:sp>
        <p:nvSpPr>
          <p:cNvPr id="12" name="Shape 10"/>
          <p:cNvSpPr/>
          <p:nvPr/>
        </p:nvSpPr>
        <p:spPr>
          <a:xfrm>
            <a:off x="5550408" y="2331720"/>
            <a:ext cx="5998464" cy="3186371"/>
          </a:xfrm>
          <a:prstGeom prst="rect">
            <a:avLst/>
          </a:prstGeom>
          <a:solidFill>
            <a:srgbClr val="14141C"/>
          </a:solidFill>
          <a:ln w="12700">
            <a:solidFill>
              <a:srgbClr val="2E2E3C"/>
            </a:solidFill>
            <a:prstDash val="solid"/>
          </a:ln>
        </p:spPr>
      </p:sp>
      <p:pic>
        <p:nvPicPr>
          <p:cNvPr id="13" name="Image 0" descr="mcd.png">    </p:cNvPr>
          <p:cNvPicPr>
            <a:picLocks noChangeAspect="1"/>
          </p:cNvPicPr>
          <p:nvPr/>
        </p:nvPicPr>
        <p:blipFill>
          <a:blip r:embed="rId1"/>
          <a:stretch>
            <a:fillRect/>
          </a:stretch>
        </p:blipFill>
        <p:spPr>
          <a:xfrm>
            <a:off x="5577840" y="2359152"/>
            <a:ext cx="5943600" cy="3131507"/>
          </a:xfrm>
          <a:prstGeom prst="rect">
            <a:avLst/>
          </a:prstGeom>
        </p:spPr>
      </p:pic>
      <p:sp>
        <p:nvSpPr>
          <p:cNvPr id="14" name="Text 11"/>
          <p:cNvSpPr/>
          <p:nvPr/>
        </p:nvSpPr>
        <p:spPr>
          <a:xfrm>
            <a:off x="5577840" y="5563811"/>
            <a:ext cx="5943600" cy="274320"/>
          </a:xfrm>
          <a:prstGeom prst="rect">
            <a:avLst/>
          </a:prstGeom>
          <a:noFill/>
          <a:ln/>
        </p:spPr>
        <p:txBody>
          <a:bodyPr wrap="square" lIns="0" tIns="0" rIns="0" bIns="0" rtlCol="0" anchor="ctr"/>
          <a:lstStyle/>
          <a:p>
            <a:pPr algn="ctr" indent="0" marL="0">
              <a:buNone/>
            </a:pPr>
            <a:r>
              <a:rPr lang="en-US" sz="1200" dirty="0">
                <a:solidFill>
                  <a:srgbClr val="6E6E7C"/>
                </a:solidFill>
                <a:latin typeface="Inter" pitchFamily="34" charset="0"/>
                <a:ea typeface="Inter" pitchFamily="34" charset="-122"/>
                <a:cs typeface="Inter" pitchFamily="34" charset="-120"/>
              </a:rPr>
              <a:t>MCD — 5 entités et leurs relations</a:t>
            </a:r>
            <a:endParaRPr lang="en-US" sz="1200" dirty="0"/>
          </a:p>
        </p:txBody>
      </p:sp>
      <p:sp>
        <p:nvSpPr>
          <p:cNvPr id="15" name="Text 12"/>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6" name="Text 13"/>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Vue d’ensemble de l’architecture</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231136"/>
            <a:ext cx="100584" cy="100584"/>
          </a:xfrm>
          <a:prstGeom prst="rect">
            <a:avLst/>
          </a:prstGeom>
          <a:solidFill>
            <a:srgbClr val="C1121F"/>
          </a:solidFill>
          <a:ln/>
        </p:spPr>
      </p:sp>
      <p:sp>
        <p:nvSpPr>
          <p:cNvPr id="5" name="Text 3"/>
          <p:cNvSpPr/>
          <p:nvPr/>
        </p:nvSpPr>
        <p:spPr>
          <a:xfrm>
            <a:off x="896112" y="2103120"/>
            <a:ext cx="484632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Architecture 3 tiers orchestrée par Docker Compose : Next.js (3000) ↔ API Express (4000) ↔ PostgreSQL (5432)</a:t>
            </a:r>
            <a:endParaRPr lang="en-US" sz="1600" dirty="0"/>
          </a:p>
        </p:txBody>
      </p:sp>
      <p:sp>
        <p:nvSpPr>
          <p:cNvPr id="6" name="Shape 4"/>
          <p:cNvSpPr/>
          <p:nvPr/>
        </p:nvSpPr>
        <p:spPr>
          <a:xfrm>
            <a:off x="640080" y="3419856"/>
            <a:ext cx="100584" cy="100584"/>
          </a:xfrm>
          <a:prstGeom prst="rect">
            <a:avLst/>
          </a:prstGeom>
          <a:solidFill>
            <a:srgbClr val="C1121F"/>
          </a:solidFill>
          <a:ln/>
        </p:spPr>
      </p:sp>
      <p:sp>
        <p:nvSpPr>
          <p:cNvPr id="7" name="Text 5"/>
          <p:cNvSpPr/>
          <p:nvPr/>
        </p:nvSpPr>
        <p:spPr>
          <a:xfrm>
            <a:off x="896112" y="3291840"/>
            <a:ext cx="484632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Conteneurs isolés sur un réseau Docker interne (app-net)</a:t>
            </a:r>
            <a:endParaRPr lang="en-US" sz="1600" dirty="0"/>
          </a:p>
        </p:txBody>
      </p:sp>
      <p:sp>
        <p:nvSpPr>
          <p:cNvPr id="8" name="Shape 6"/>
          <p:cNvSpPr/>
          <p:nvPr/>
        </p:nvSpPr>
        <p:spPr>
          <a:xfrm>
            <a:off x="640080" y="4288536"/>
            <a:ext cx="100584" cy="100584"/>
          </a:xfrm>
          <a:prstGeom prst="rect">
            <a:avLst/>
          </a:prstGeom>
          <a:solidFill>
            <a:srgbClr val="C1121F"/>
          </a:solidFill>
          <a:ln/>
        </p:spPr>
      </p:sp>
      <p:sp>
        <p:nvSpPr>
          <p:cNvPr id="9" name="Text 7"/>
          <p:cNvSpPr/>
          <p:nvPr/>
        </p:nvSpPr>
        <p:spPr>
          <a:xfrm>
            <a:off x="896112" y="4160520"/>
            <a:ext cx="484632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API REST sans état, requêtes admin par cookie JWT httpOnly vérifié en base</a:t>
            </a:r>
            <a:endParaRPr lang="en-US" sz="1600" dirty="0"/>
          </a:p>
        </p:txBody>
      </p:sp>
      <p:sp>
        <p:nvSpPr>
          <p:cNvPr id="10" name="Shape 8"/>
          <p:cNvSpPr/>
          <p:nvPr/>
        </p:nvSpPr>
        <p:spPr>
          <a:xfrm>
            <a:off x="640080" y="5294376"/>
            <a:ext cx="100584" cy="100584"/>
          </a:xfrm>
          <a:prstGeom prst="rect">
            <a:avLst/>
          </a:prstGeom>
          <a:solidFill>
            <a:srgbClr val="C1121F"/>
          </a:solidFill>
          <a:ln/>
        </p:spPr>
      </p:sp>
      <p:sp>
        <p:nvSpPr>
          <p:cNvPr id="11" name="Text 9"/>
          <p:cNvSpPr/>
          <p:nvPr/>
        </p:nvSpPr>
        <p:spPr>
          <a:xfrm>
            <a:off x="896112" y="5166360"/>
            <a:ext cx="484632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Double URL d’appel API : côté conteneur vs côté navigateur</a:t>
            </a:r>
            <a:endParaRPr lang="en-US" sz="1600" dirty="0"/>
          </a:p>
        </p:txBody>
      </p:sp>
      <p:sp>
        <p:nvSpPr>
          <p:cNvPr id="12" name="Shape 10"/>
          <p:cNvSpPr/>
          <p:nvPr/>
        </p:nvSpPr>
        <p:spPr>
          <a:xfrm>
            <a:off x="5824728" y="2743200"/>
            <a:ext cx="5815584" cy="2359152"/>
          </a:xfrm>
          <a:prstGeom prst="rect">
            <a:avLst/>
          </a:prstGeom>
          <a:solidFill>
            <a:srgbClr val="14141C"/>
          </a:solidFill>
          <a:ln w="12700">
            <a:solidFill>
              <a:srgbClr val="2E2E3C"/>
            </a:solidFill>
            <a:prstDash val="solid"/>
          </a:ln>
        </p:spPr>
      </p:sp>
      <p:pic>
        <p:nvPicPr>
          <p:cNvPr id="13" name="Image 0" descr="archi.png">    </p:cNvPr>
          <p:cNvPicPr>
            <a:picLocks noChangeAspect="1"/>
          </p:cNvPicPr>
          <p:nvPr/>
        </p:nvPicPr>
        <p:blipFill>
          <a:blip r:embed="rId1"/>
          <a:stretch>
            <a:fillRect/>
          </a:stretch>
        </p:blipFill>
        <p:spPr>
          <a:xfrm>
            <a:off x="5852160" y="2770632"/>
            <a:ext cx="5760720" cy="2304288"/>
          </a:xfrm>
          <a:prstGeom prst="rect">
            <a:avLst/>
          </a:prstGeom>
        </p:spPr>
      </p:pic>
      <p:sp>
        <p:nvSpPr>
          <p:cNvPr id="14" name="Text 11"/>
          <p:cNvSpPr/>
          <p:nvPr/>
        </p:nvSpPr>
        <p:spPr>
          <a:xfrm>
            <a:off x="5852160" y="5166360"/>
            <a:ext cx="5760720" cy="274320"/>
          </a:xfrm>
          <a:prstGeom prst="rect">
            <a:avLst/>
          </a:prstGeom>
          <a:noFill/>
          <a:ln/>
        </p:spPr>
        <p:txBody>
          <a:bodyPr wrap="square" lIns="0" tIns="0" rIns="0" bIns="0" rtlCol="0" anchor="ctr"/>
          <a:lstStyle/>
          <a:p>
            <a:pPr algn="ctr" indent="0" marL="0">
              <a:buNone/>
            </a:pPr>
            <a:r>
              <a:rPr lang="en-US" sz="1200" dirty="0">
                <a:solidFill>
                  <a:srgbClr val="6E6E7C"/>
                </a:solidFill>
                <a:latin typeface="Inter" pitchFamily="34" charset="0"/>
                <a:ea typeface="Inter" pitchFamily="34" charset="-122"/>
                <a:cs typeface="Inter" pitchFamily="34" charset="-120"/>
              </a:rPr>
              <a:t>Architecture 3 tiers — Docker Compose</a:t>
            </a:r>
            <a:endParaRPr lang="en-US" sz="1200" dirty="0"/>
          </a:p>
        </p:txBody>
      </p:sp>
      <p:sp>
        <p:nvSpPr>
          <p:cNvPr id="15" name="Text 12"/>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6" name="Text 13"/>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Stack &amp; justification des choix</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185416"/>
            <a:ext cx="100584" cy="100584"/>
          </a:xfrm>
          <a:prstGeom prst="rect">
            <a:avLst/>
          </a:prstGeom>
          <a:solidFill>
            <a:srgbClr val="C1121F"/>
          </a:solidFill>
          <a:ln/>
        </p:spPr>
      </p:sp>
      <p:sp>
        <p:nvSpPr>
          <p:cNvPr id="5" name="Text 3"/>
          <p:cNvSpPr/>
          <p:nvPr/>
        </p:nvSpPr>
        <p:spPr>
          <a:xfrm>
            <a:off x="896112" y="2057400"/>
            <a:ext cx="5029200" cy="822960"/>
          </a:xfrm>
          <a:prstGeom prst="rect">
            <a:avLst/>
          </a:prstGeom>
          <a:noFill/>
          <a:ln/>
        </p:spPr>
        <p:txBody>
          <a:bodyPr wrap="square" lIns="0" tIns="0" rIns="0" bIns="0" rtlCol="0" anchor="t"/>
          <a:lstStyle/>
          <a:p>
            <a:pPr algn="l" indent="0" marL="0">
              <a:buNone/>
            </a:pPr>
            <a:r>
              <a:rPr lang="en-US" sz="1450" b="1" dirty="0">
                <a:solidFill>
                  <a:srgbClr val="FFFFFF"/>
                </a:solidFill>
                <a:latin typeface="Inter" pitchFamily="34" charset="0"/>
                <a:ea typeface="Inter" pitchFamily="34" charset="-122"/>
                <a:cs typeface="Inter" pitchFamily="34" charset="-120"/>
              </a:rPr>
              <a:t>Next.js 16 / React 19</a:t>
            </a:r>
            <a:pPr algn="l" indent="0" marL="0">
              <a:buNone/>
            </a:pPr>
            <a:r>
              <a:rPr lang="en-US" sz="1450" dirty="0">
                <a:solidFill>
                  <a:srgbClr val="C7C7D1"/>
                </a:solidFill>
                <a:latin typeface="Inter" pitchFamily="34" charset="0"/>
                <a:ea typeface="Inter" pitchFamily="34" charset="-122"/>
                <a:cs typeface="Inter" pitchFamily="34" charset="-120"/>
              </a:rPr>
              <a:t>  →  SEO d’un site grand public (SSR/SSG/ISR)</a:t>
            </a:r>
            <a:endParaRPr lang="en-US" sz="1450" dirty="0"/>
          </a:p>
        </p:txBody>
      </p:sp>
      <p:sp>
        <p:nvSpPr>
          <p:cNvPr id="6" name="Shape 4"/>
          <p:cNvSpPr/>
          <p:nvPr/>
        </p:nvSpPr>
        <p:spPr>
          <a:xfrm>
            <a:off x="640080" y="3145536"/>
            <a:ext cx="100584" cy="100584"/>
          </a:xfrm>
          <a:prstGeom prst="rect">
            <a:avLst/>
          </a:prstGeom>
          <a:solidFill>
            <a:srgbClr val="C1121F"/>
          </a:solidFill>
          <a:ln/>
        </p:spPr>
      </p:sp>
      <p:sp>
        <p:nvSpPr>
          <p:cNvPr id="7" name="Text 5"/>
          <p:cNvSpPr/>
          <p:nvPr/>
        </p:nvSpPr>
        <p:spPr>
          <a:xfrm>
            <a:off x="896112" y="3017520"/>
            <a:ext cx="5029200" cy="822960"/>
          </a:xfrm>
          <a:prstGeom prst="rect">
            <a:avLst/>
          </a:prstGeom>
          <a:noFill/>
          <a:ln/>
        </p:spPr>
        <p:txBody>
          <a:bodyPr wrap="square" lIns="0" tIns="0" rIns="0" bIns="0" rtlCol="0" anchor="t"/>
          <a:lstStyle/>
          <a:p>
            <a:pPr algn="l" indent="0" marL="0">
              <a:buNone/>
            </a:pPr>
            <a:r>
              <a:rPr lang="en-US" sz="1450" b="1" dirty="0">
                <a:solidFill>
                  <a:srgbClr val="FFFFFF"/>
                </a:solidFill>
                <a:latin typeface="Inter" pitchFamily="34" charset="0"/>
                <a:ea typeface="Inter" pitchFamily="34" charset="-122"/>
                <a:cs typeface="Inter" pitchFamily="34" charset="-120"/>
              </a:rPr>
              <a:t>Express 5 / Node 20</a:t>
            </a:r>
            <a:pPr algn="l" indent="0" marL="0">
              <a:buNone/>
            </a:pPr>
            <a:r>
              <a:rPr lang="en-US" sz="1450" dirty="0">
                <a:solidFill>
                  <a:srgbClr val="C7C7D1"/>
                </a:solidFill>
                <a:latin typeface="Inter" pitchFamily="34" charset="0"/>
                <a:ea typeface="Inter" pitchFamily="34" charset="-122"/>
                <a:cs typeface="Inter" pitchFamily="34" charset="-120"/>
              </a:rPr>
              <a:t>  →  architecture en couches maîtrisée, TS strict</a:t>
            </a:r>
            <a:endParaRPr lang="en-US" sz="1450" dirty="0"/>
          </a:p>
        </p:txBody>
      </p:sp>
      <p:sp>
        <p:nvSpPr>
          <p:cNvPr id="8" name="Shape 6"/>
          <p:cNvSpPr/>
          <p:nvPr/>
        </p:nvSpPr>
        <p:spPr>
          <a:xfrm>
            <a:off x="640080" y="4105656"/>
            <a:ext cx="100584" cy="100584"/>
          </a:xfrm>
          <a:prstGeom prst="rect">
            <a:avLst/>
          </a:prstGeom>
          <a:solidFill>
            <a:srgbClr val="C1121F"/>
          </a:solidFill>
          <a:ln/>
        </p:spPr>
      </p:sp>
      <p:sp>
        <p:nvSpPr>
          <p:cNvPr id="9" name="Text 7"/>
          <p:cNvSpPr/>
          <p:nvPr/>
        </p:nvSpPr>
        <p:spPr>
          <a:xfrm>
            <a:off x="896112" y="3977640"/>
            <a:ext cx="5029200" cy="822960"/>
          </a:xfrm>
          <a:prstGeom prst="rect">
            <a:avLst/>
          </a:prstGeom>
          <a:noFill/>
          <a:ln/>
        </p:spPr>
        <p:txBody>
          <a:bodyPr wrap="square" lIns="0" tIns="0" rIns="0" bIns="0" rtlCol="0" anchor="t"/>
          <a:lstStyle/>
          <a:p>
            <a:pPr algn="l" indent="0" marL="0">
              <a:buNone/>
            </a:pPr>
            <a:r>
              <a:rPr lang="en-US" sz="1450" b="1" dirty="0">
                <a:solidFill>
                  <a:srgbClr val="FFFFFF"/>
                </a:solidFill>
                <a:latin typeface="Inter" pitchFamily="34" charset="0"/>
                <a:ea typeface="Inter" pitchFamily="34" charset="-122"/>
                <a:cs typeface="Inter" pitchFamily="34" charset="-120"/>
              </a:rPr>
              <a:t>PostgreSQL 16</a:t>
            </a:r>
            <a:pPr algn="l" indent="0" marL="0">
              <a:buNone/>
            </a:pPr>
            <a:r>
              <a:rPr lang="en-US" sz="1450" dirty="0">
                <a:solidFill>
                  <a:srgbClr val="C7C7D1"/>
                </a:solidFill>
                <a:latin typeface="Inter" pitchFamily="34" charset="0"/>
                <a:ea typeface="Inter" pitchFamily="34" charset="-122"/>
                <a:cs typeface="Inter" pitchFamily="34" charset="-120"/>
              </a:rPr>
              <a:t>  →  citext, btree_gist (contraintes EXCLUDE)</a:t>
            </a:r>
            <a:endParaRPr lang="en-US" sz="1450" dirty="0"/>
          </a:p>
        </p:txBody>
      </p:sp>
      <p:sp>
        <p:nvSpPr>
          <p:cNvPr id="10" name="Shape 8"/>
          <p:cNvSpPr/>
          <p:nvPr/>
        </p:nvSpPr>
        <p:spPr>
          <a:xfrm>
            <a:off x="640080" y="5065776"/>
            <a:ext cx="100584" cy="100584"/>
          </a:xfrm>
          <a:prstGeom prst="rect">
            <a:avLst/>
          </a:prstGeom>
          <a:solidFill>
            <a:srgbClr val="C1121F"/>
          </a:solidFill>
          <a:ln/>
        </p:spPr>
      </p:sp>
      <p:sp>
        <p:nvSpPr>
          <p:cNvPr id="11" name="Text 9"/>
          <p:cNvSpPr/>
          <p:nvPr/>
        </p:nvSpPr>
        <p:spPr>
          <a:xfrm>
            <a:off x="896112" y="4937760"/>
            <a:ext cx="5029200" cy="822960"/>
          </a:xfrm>
          <a:prstGeom prst="rect">
            <a:avLst/>
          </a:prstGeom>
          <a:noFill/>
          <a:ln/>
        </p:spPr>
        <p:txBody>
          <a:bodyPr wrap="square" lIns="0" tIns="0" rIns="0" bIns="0" rtlCol="0" anchor="t"/>
          <a:lstStyle/>
          <a:p>
            <a:pPr algn="l" indent="0" marL="0">
              <a:buNone/>
            </a:pPr>
            <a:r>
              <a:rPr lang="en-US" sz="1450" b="1" dirty="0">
                <a:solidFill>
                  <a:srgbClr val="FFFFFF"/>
                </a:solidFill>
                <a:latin typeface="Inter" pitchFamily="34" charset="0"/>
                <a:ea typeface="Inter" pitchFamily="34" charset="-122"/>
                <a:cs typeface="Inter" pitchFamily="34" charset="-120"/>
              </a:rPr>
              <a:t>JWT + cookies httpOnly + sessions</a:t>
            </a:r>
            <a:pPr algn="l" indent="0" marL="0">
              <a:buNone/>
            </a:pPr>
            <a:r>
              <a:rPr lang="en-US" sz="1450" dirty="0">
                <a:solidFill>
                  <a:srgbClr val="C7C7D1"/>
                </a:solidFill>
                <a:latin typeface="Inter" pitchFamily="34" charset="0"/>
                <a:ea typeface="Inter" pitchFamily="34" charset="-122"/>
                <a:cs typeface="Inter" pitchFamily="34" charset="-120"/>
              </a:rPr>
              <a:t>  →  anti-XSS, révocation possible</a:t>
            </a:r>
            <a:endParaRPr lang="en-US" sz="1450" dirty="0"/>
          </a:p>
        </p:txBody>
      </p:sp>
      <p:sp>
        <p:nvSpPr>
          <p:cNvPr id="12" name="Shape 10"/>
          <p:cNvSpPr/>
          <p:nvPr/>
        </p:nvSpPr>
        <p:spPr>
          <a:xfrm>
            <a:off x="6400800" y="2185416"/>
            <a:ext cx="100584" cy="100584"/>
          </a:xfrm>
          <a:prstGeom prst="rect">
            <a:avLst/>
          </a:prstGeom>
          <a:solidFill>
            <a:srgbClr val="C1121F"/>
          </a:solidFill>
          <a:ln/>
        </p:spPr>
      </p:sp>
      <p:sp>
        <p:nvSpPr>
          <p:cNvPr id="13" name="Text 11"/>
          <p:cNvSpPr/>
          <p:nvPr/>
        </p:nvSpPr>
        <p:spPr>
          <a:xfrm>
            <a:off x="6656832" y="2057400"/>
            <a:ext cx="5029200" cy="822960"/>
          </a:xfrm>
          <a:prstGeom prst="rect">
            <a:avLst/>
          </a:prstGeom>
          <a:noFill/>
          <a:ln/>
        </p:spPr>
        <p:txBody>
          <a:bodyPr wrap="square" lIns="0" tIns="0" rIns="0" bIns="0" rtlCol="0" anchor="t"/>
          <a:lstStyle/>
          <a:p>
            <a:pPr algn="l" indent="0" marL="0">
              <a:buNone/>
            </a:pPr>
            <a:r>
              <a:rPr lang="en-US" sz="1450" b="1" dirty="0">
                <a:solidFill>
                  <a:srgbClr val="FFFFFF"/>
                </a:solidFill>
                <a:latin typeface="Inter" pitchFamily="34" charset="0"/>
                <a:ea typeface="Inter" pitchFamily="34" charset="-122"/>
                <a:cs typeface="Inter" pitchFamily="34" charset="-120"/>
              </a:rPr>
              <a:t>Zod</a:t>
            </a:r>
            <a:pPr algn="l" indent="0" marL="0">
              <a:buNone/>
            </a:pPr>
            <a:r>
              <a:rPr lang="en-US" sz="1450" dirty="0">
                <a:solidFill>
                  <a:srgbClr val="C7C7D1"/>
                </a:solidFill>
                <a:latin typeface="Inter" pitchFamily="34" charset="0"/>
                <a:ea typeface="Inter" pitchFamily="34" charset="-122"/>
                <a:cs typeface="Inter" pitchFamily="34" charset="-120"/>
              </a:rPr>
              <a:t>  →  validation des entrées à l’exécution</a:t>
            </a:r>
            <a:endParaRPr lang="en-US" sz="1450" dirty="0"/>
          </a:p>
        </p:txBody>
      </p:sp>
      <p:sp>
        <p:nvSpPr>
          <p:cNvPr id="14" name="Shape 12"/>
          <p:cNvSpPr/>
          <p:nvPr/>
        </p:nvSpPr>
        <p:spPr>
          <a:xfrm>
            <a:off x="6400800" y="3145536"/>
            <a:ext cx="100584" cy="100584"/>
          </a:xfrm>
          <a:prstGeom prst="rect">
            <a:avLst/>
          </a:prstGeom>
          <a:solidFill>
            <a:srgbClr val="C1121F"/>
          </a:solidFill>
          <a:ln/>
        </p:spPr>
      </p:sp>
      <p:sp>
        <p:nvSpPr>
          <p:cNvPr id="15" name="Text 13"/>
          <p:cNvSpPr/>
          <p:nvPr/>
        </p:nvSpPr>
        <p:spPr>
          <a:xfrm>
            <a:off x="6656832" y="3017520"/>
            <a:ext cx="5029200" cy="822960"/>
          </a:xfrm>
          <a:prstGeom prst="rect">
            <a:avLst/>
          </a:prstGeom>
          <a:noFill/>
          <a:ln/>
        </p:spPr>
        <p:txBody>
          <a:bodyPr wrap="square" lIns="0" tIns="0" rIns="0" bIns="0" rtlCol="0" anchor="t"/>
          <a:lstStyle/>
          <a:p>
            <a:pPr algn="l" indent="0" marL="0">
              <a:buNone/>
            </a:pPr>
            <a:r>
              <a:rPr lang="en-US" sz="1450" b="1" dirty="0">
                <a:solidFill>
                  <a:srgbClr val="FFFFFF"/>
                </a:solidFill>
                <a:latin typeface="Inter" pitchFamily="34" charset="0"/>
                <a:ea typeface="Inter" pitchFamily="34" charset="-122"/>
                <a:cs typeface="Inter" pitchFamily="34" charset="-120"/>
              </a:rPr>
              <a:t>Vitest + Supertest + RTL</a:t>
            </a:r>
            <a:pPr algn="l" indent="0" marL="0">
              <a:buNone/>
            </a:pPr>
            <a:r>
              <a:rPr lang="en-US" sz="1450" dirty="0">
                <a:solidFill>
                  <a:srgbClr val="C7C7D1"/>
                </a:solidFill>
                <a:latin typeface="Inter" pitchFamily="34" charset="0"/>
                <a:ea typeface="Inter" pitchFamily="34" charset="-122"/>
                <a:cs typeface="Inter" pitchFamily="34" charset="-120"/>
              </a:rPr>
              <a:t>  →  tests rapides, sans port réseau réel</a:t>
            </a:r>
            <a:endParaRPr lang="en-US" sz="1450" dirty="0"/>
          </a:p>
        </p:txBody>
      </p:sp>
      <p:sp>
        <p:nvSpPr>
          <p:cNvPr id="16" name="Shape 14"/>
          <p:cNvSpPr/>
          <p:nvPr/>
        </p:nvSpPr>
        <p:spPr>
          <a:xfrm>
            <a:off x="6400800" y="4105656"/>
            <a:ext cx="100584" cy="100584"/>
          </a:xfrm>
          <a:prstGeom prst="rect">
            <a:avLst/>
          </a:prstGeom>
          <a:solidFill>
            <a:srgbClr val="C1121F"/>
          </a:solidFill>
          <a:ln/>
        </p:spPr>
      </p:sp>
      <p:sp>
        <p:nvSpPr>
          <p:cNvPr id="17" name="Text 15"/>
          <p:cNvSpPr/>
          <p:nvPr/>
        </p:nvSpPr>
        <p:spPr>
          <a:xfrm>
            <a:off x="6656832" y="3977640"/>
            <a:ext cx="5029200" cy="822960"/>
          </a:xfrm>
          <a:prstGeom prst="rect">
            <a:avLst/>
          </a:prstGeom>
          <a:noFill/>
          <a:ln/>
        </p:spPr>
        <p:txBody>
          <a:bodyPr wrap="square" lIns="0" tIns="0" rIns="0" bIns="0" rtlCol="0" anchor="t"/>
          <a:lstStyle/>
          <a:p>
            <a:pPr algn="l" indent="0" marL="0">
              <a:buNone/>
            </a:pPr>
            <a:r>
              <a:rPr lang="en-US" sz="1450" b="1" dirty="0">
                <a:solidFill>
                  <a:srgbClr val="FFFFFF"/>
                </a:solidFill>
                <a:latin typeface="Inter" pitchFamily="34" charset="0"/>
                <a:ea typeface="Inter" pitchFamily="34" charset="-122"/>
                <a:cs typeface="Inter" pitchFamily="34" charset="-120"/>
              </a:rPr>
              <a:t>Docker Compose</a:t>
            </a:r>
            <a:pPr algn="l" indent="0" marL="0">
              <a:buNone/>
            </a:pPr>
            <a:r>
              <a:rPr lang="en-US" sz="1450" dirty="0">
                <a:solidFill>
                  <a:srgbClr val="C7C7D1"/>
                </a:solidFill>
                <a:latin typeface="Inter" pitchFamily="34" charset="0"/>
                <a:ea typeface="Inter" pitchFamily="34" charset="-122"/>
                <a:cs typeface="Inter" pitchFamily="34" charset="-120"/>
              </a:rPr>
              <a:t>  →  environnement identique dev / CI</a:t>
            </a:r>
            <a:endParaRPr lang="en-US" sz="1450" dirty="0"/>
          </a:p>
        </p:txBody>
      </p:sp>
      <p:sp>
        <p:nvSpPr>
          <p:cNvPr id="18" name="Text 16"/>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9" name="Text 17"/>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Architecture en couches (backend)</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231136"/>
            <a:ext cx="100584" cy="100584"/>
          </a:xfrm>
          <a:prstGeom prst="rect">
            <a:avLst/>
          </a:prstGeom>
          <a:solidFill>
            <a:srgbClr val="C1121F"/>
          </a:solidFill>
          <a:ln/>
        </p:spPr>
      </p:sp>
      <p:sp>
        <p:nvSpPr>
          <p:cNvPr id="5" name="Text 3"/>
          <p:cNvSpPr/>
          <p:nvPr/>
        </p:nvSpPr>
        <p:spPr>
          <a:xfrm>
            <a:off x="896112" y="2103120"/>
            <a:ext cx="484632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Backend structuré en couches : routes → middlewares → contrôleurs → services → BDD</a:t>
            </a:r>
            <a:endParaRPr lang="en-US" sz="1600" dirty="0"/>
          </a:p>
        </p:txBody>
      </p:sp>
      <p:sp>
        <p:nvSpPr>
          <p:cNvPr id="6" name="Shape 4"/>
          <p:cNvSpPr/>
          <p:nvPr/>
        </p:nvSpPr>
        <p:spPr>
          <a:xfrm>
            <a:off x="640080" y="3419856"/>
            <a:ext cx="100584" cy="100584"/>
          </a:xfrm>
          <a:prstGeom prst="rect">
            <a:avLst/>
          </a:prstGeom>
          <a:solidFill>
            <a:srgbClr val="C1121F"/>
          </a:solidFill>
          <a:ln/>
        </p:spPr>
      </p:sp>
      <p:sp>
        <p:nvSpPr>
          <p:cNvPr id="7" name="Text 5"/>
          <p:cNvSpPr/>
          <p:nvPr/>
        </p:nvSpPr>
        <p:spPr>
          <a:xfrm>
            <a:off x="896112" y="3291840"/>
            <a:ext cx="484632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Chaque couche ne connaît que la suivante : un fichier par responsabilité</a:t>
            </a:r>
            <a:endParaRPr lang="en-US" sz="1600" dirty="0"/>
          </a:p>
        </p:txBody>
      </p:sp>
      <p:sp>
        <p:nvSpPr>
          <p:cNvPr id="8" name="Shape 6"/>
          <p:cNvSpPr/>
          <p:nvPr/>
        </p:nvSpPr>
        <p:spPr>
          <a:xfrm>
            <a:off x="640080" y="4608576"/>
            <a:ext cx="100584" cy="100584"/>
          </a:xfrm>
          <a:prstGeom prst="rect">
            <a:avLst/>
          </a:prstGeom>
          <a:solidFill>
            <a:srgbClr val="C1121F"/>
          </a:solidFill>
          <a:ln/>
        </p:spPr>
      </p:sp>
      <p:sp>
        <p:nvSpPr>
          <p:cNvPr id="9" name="Text 7"/>
          <p:cNvSpPr/>
          <p:nvPr/>
        </p:nvSpPr>
        <p:spPr>
          <a:xfrm>
            <a:off x="896112" y="4480560"/>
            <a:ext cx="484632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Pas de MVC monolithique : front et back séparés, la Vue React interroge l’API en asynchrone</a:t>
            </a:r>
            <a:endParaRPr lang="en-US" sz="1600" dirty="0"/>
          </a:p>
        </p:txBody>
      </p:sp>
      <p:sp>
        <p:nvSpPr>
          <p:cNvPr id="10" name="Shape 8"/>
          <p:cNvSpPr/>
          <p:nvPr/>
        </p:nvSpPr>
        <p:spPr>
          <a:xfrm>
            <a:off x="5916168" y="1801368"/>
            <a:ext cx="5724144" cy="3978241"/>
          </a:xfrm>
          <a:prstGeom prst="rect">
            <a:avLst/>
          </a:prstGeom>
          <a:solidFill>
            <a:srgbClr val="14141C"/>
          </a:solidFill>
          <a:ln w="12700">
            <a:solidFill>
              <a:srgbClr val="2E2E3C"/>
            </a:solidFill>
            <a:prstDash val="solid"/>
          </a:ln>
        </p:spPr>
      </p:sp>
      <p:pic>
        <p:nvPicPr>
          <p:cNvPr id="11" name="Image 0" descr="flux.png">    </p:cNvPr>
          <p:cNvPicPr>
            <a:picLocks noChangeAspect="1"/>
          </p:cNvPicPr>
          <p:nvPr/>
        </p:nvPicPr>
        <p:blipFill>
          <a:blip r:embed="rId1"/>
          <a:stretch>
            <a:fillRect/>
          </a:stretch>
        </p:blipFill>
        <p:spPr>
          <a:xfrm>
            <a:off x="5943600" y="1828800"/>
            <a:ext cx="5669280" cy="3923377"/>
          </a:xfrm>
          <a:prstGeom prst="rect">
            <a:avLst/>
          </a:prstGeom>
        </p:spPr>
      </p:pic>
      <p:sp>
        <p:nvSpPr>
          <p:cNvPr id="12" name="Text 9"/>
          <p:cNvSpPr/>
          <p:nvPr/>
        </p:nvSpPr>
        <p:spPr>
          <a:xfrm>
            <a:off x="5943600" y="5825329"/>
            <a:ext cx="5669280" cy="274320"/>
          </a:xfrm>
          <a:prstGeom prst="rect">
            <a:avLst/>
          </a:prstGeom>
          <a:noFill/>
          <a:ln/>
        </p:spPr>
        <p:txBody>
          <a:bodyPr wrap="square" lIns="0" tIns="0" rIns="0" bIns="0" rtlCol="0" anchor="ctr"/>
          <a:lstStyle/>
          <a:p>
            <a:pPr algn="ctr" indent="0" marL="0">
              <a:buNone/>
            </a:pPr>
            <a:r>
              <a:rPr lang="en-US" sz="1200" dirty="0">
                <a:solidFill>
                  <a:srgbClr val="6E6E7C"/>
                </a:solidFill>
                <a:latin typeface="Inter" pitchFamily="34" charset="0"/>
                <a:ea typeface="Inter" pitchFamily="34" charset="-122"/>
                <a:cs typeface="Inter" pitchFamily="34" charset="-120"/>
              </a:rPr>
              <a:t>Flux d’une requête à travers les couches</a:t>
            </a:r>
            <a:endParaRPr lang="en-US" sz="1200" dirty="0"/>
          </a:p>
        </p:txBody>
      </p:sp>
      <p:sp>
        <p:nvSpPr>
          <p:cNvPr id="13" name="Text 10"/>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4" name="Text 11"/>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58368" y="1783080"/>
            <a:ext cx="1051560" cy="457200"/>
          </a:xfrm>
          <a:prstGeom prst="rect">
            <a:avLst/>
          </a:prstGeom>
          <a:solidFill>
            <a:srgbClr val="C1121F"/>
          </a:solidFill>
          <a:ln/>
        </p:spPr>
        <p:txBody>
          <a:bodyPr wrap="square" lIns="0" tIns="0" rIns="0" bIns="0" rtlCol="0" anchor="ctr"/>
          <a:lstStyle/>
          <a:p>
            <a:pPr algn="ctr" indent="0" marL="0">
              <a:buNone/>
            </a:pPr>
            <a:r>
              <a:rPr lang="en-US" sz="1700" b="1" spc="300" kern="0" dirty="0">
                <a:solidFill>
                  <a:srgbClr val="FFFFFF"/>
                </a:solidFill>
                <a:latin typeface="Oswald" pitchFamily="34" charset="0"/>
                <a:ea typeface="Oswald" pitchFamily="34" charset="-122"/>
                <a:cs typeface="Oswald" pitchFamily="34" charset="-120"/>
              </a:rPr>
              <a:t>LIVE</a:t>
            </a:r>
            <a:endParaRPr lang="en-US" sz="1700" dirty="0"/>
          </a:p>
        </p:txBody>
      </p:sp>
      <p:sp>
        <p:nvSpPr>
          <p:cNvPr id="3" name="Text 1"/>
          <p:cNvSpPr/>
          <p:nvPr/>
        </p:nvSpPr>
        <p:spPr>
          <a:xfrm>
            <a:off x="621792" y="2286000"/>
            <a:ext cx="10972800" cy="1005840"/>
          </a:xfrm>
          <a:prstGeom prst="rect">
            <a:avLst/>
          </a:prstGeom>
          <a:noFill/>
          <a:ln/>
        </p:spPr>
        <p:txBody>
          <a:bodyPr wrap="square" lIns="0" tIns="0" rIns="0" bIns="0" rtlCol="0" anchor="ctr"/>
          <a:lstStyle/>
          <a:p>
            <a:pPr algn="l" indent="0" marL="0">
              <a:buNone/>
            </a:pPr>
            <a:r>
              <a:rPr lang="en-US" sz="5200" b="1" spc="100" kern="0" dirty="0">
                <a:solidFill>
                  <a:srgbClr val="FFFFFF"/>
                </a:solidFill>
                <a:latin typeface="Oswald" pitchFamily="34" charset="0"/>
                <a:ea typeface="Oswald" pitchFamily="34" charset="-122"/>
                <a:cs typeface="Oswald" pitchFamily="34" charset="-120"/>
              </a:rPr>
              <a:t>Démonstration</a:t>
            </a:r>
            <a:endParaRPr lang="en-US" sz="5200" dirty="0"/>
          </a:p>
        </p:txBody>
      </p:sp>
      <p:sp>
        <p:nvSpPr>
          <p:cNvPr id="4" name="Shape 2"/>
          <p:cNvSpPr/>
          <p:nvPr/>
        </p:nvSpPr>
        <p:spPr>
          <a:xfrm>
            <a:off x="5989320" y="3794760"/>
            <a:ext cx="12802" cy="1554480"/>
          </a:xfrm>
          <a:prstGeom prst="rect">
            <a:avLst/>
          </a:prstGeom>
          <a:solidFill>
            <a:srgbClr val="2E2E3C"/>
          </a:solidFill>
          <a:ln/>
        </p:spPr>
      </p:sp>
      <p:sp>
        <p:nvSpPr>
          <p:cNvPr id="5" name="Text 3"/>
          <p:cNvSpPr/>
          <p:nvPr/>
        </p:nvSpPr>
        <p:spPr>
          <a:xfrm>
            <a:off x="658368" y="3749040"/>
            <a:ext cx="5120640" cy="365760"/>
          </a:xfrm>
          <a:prstGeom prst="rect">
            <a:avLst/>
          </a:prstGeom>
          <a:noFill/>
          <a:ln/>
        </p:spPr>
        <p:txBody>
          <a:bodyPr wrap="square" lIns="0" tIns="0" rIns="0" bIns="0" rtlCol="0" anchor="ctr"/>
          <a:lstStyle/>
          <a:p>
            <a:pPr algn="l" indent="0" marL="0">
              <a:buNone/>
            </a:pPr>
            <a:r>
              <a:rPr lang="en-US" sz="1700" b="1" dirty="0">
                <a:solidFill>
                  <a:srgbClr val="FFFFFF"/>
                </a:solidFill>
                <a:latin typeface="Inter" pitchFamily="34" charset="0"/>
                <a:ea typeface="Inter" pitchFamily="34" charset="-122"/>
                <a:cs typeface="Inter" pitchFamily="34" charset="-120"/>
              </a:rPr>
              <a:t>Espace public</a:t>
            </a:r>
            <a:endParaRPr lang="en-US" sz="1700" dirty="0"/>
          </a:p>
        </p:txBody>
      </p:sp>
      <p:sp>
        <p:nvSpPr>
          <p:cNvPr id="6" name="Text 4"/>
          <p:cNvSpPr/>
          <p:nvPr/>
        </p:nvSpPr>
        <p:spPr>
          <a:xfrm>
            <a:off x="658368" y="4206240"/>
            <a:ext cx="5029200" cy="10972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Accueil  →  Programmation  →  Fiche artiste  →  Actualités  →  Infos pratiques  →  Contact</a:t>
            </a:r>
            <a:endParaRPr lang="en-US" sz="1400" dirty="0"/>
          </a:p>
        </p:txBody>
      </p:sp>
      <p:sp>
        <p:nvSpPr>
          <p:cNvPr id="7" name="Text 5"/>
          <p:cNvSpPr/>
          <p:nvPr/>
        </p:nvSpPr>
        <p:spPr>
          <a:xfrm>
            <a:off x="6355080" y="3749040"/>
            <a:ext cx="5120640" cy="365760"/>
          </a:xfrm>
          <a:prstGeom prst="rect">
            <a:avLst/>
          </a:prstGeom>
          <a:noFill/>
          <a:ln/>
        </p:spPr>
        <p:txBody>
          <a:bodyPr wrap="square" lIns="0" tIns="0" rIns="0" bIns="0" rtlCol="0" anchor="ctr"/>
          <a:lstStyle/>
          <a:p>
            <a:pPr algn="l" indent="0" marL="0">
              <a:buNone/>
            </a:pPr>
            <a:r>
              <a:rPr lang="en-US" sz="1700" b="1" dirty="0">
                <a:solidFill>
                  <a:srgbClr val="FFFFFF"/>
                </a:solidFill>
                <a:latin typeface="Inter" pitchFamily="34" charset="0"/>
                <a:ea typeface="Inter" pitchFamily="34" charset="-122"/>
                <a:cs typeface="Inter" pitchFamily="34" charset="-120"/>
              </a:rPr>
              <a:t>Back-office administration</a:t>
            </a:r>
            <a:endParaRPr lang="en-US" sz="1700" dirty="0"/>
          </a:p>
        </p:txBody>
      </p:sp>
      <p:sp>
        <p:nvSpPr>
          <p:cNvPr id="8" name="Text 6"/>
          <p:cNvSpPr/>
          <p:nvPr/>
        </p:nvSpPr>
        <p:spPr>
          <a:xfrm>
            <a:off x="6355080" y="4206240"/>
            <a:ext cx="5029200" cy="10972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Connexion  →  Dashboard  →  CRUD artiste (+ upload)  →  Publier une actualité  →  Gestion des utilisateurs</a:t>
            </a:r>
            <a:endParaRPr lang="en-US" sz="1400" dirty="0"/>
          </a:p>
        </p:txBody>
      </p:sp>
      <p:sp>
        <p:nvSpPr>
          <p:cNvPr id="9" name="Text 7"/>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0" name="Text 8"/>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Focus code — règle métier en base</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Text 2"/>
          <p:cNvSpPr/>
          <p:nvPr/>
        </p:nvSpPr>
        <p:spPr>
          <a:xfrm>
            <a:off x="658368" y="1965960"/>
            <a:ext cx="2194560" cy="457200"/>
          </a:xfrm>
          <a:prstGeom prst="rect">
            <a:avLst/>
          </a:prstGeom>
          <a:solidFill>
            <a:srgbClr val="C1121F"/>
          </a:solidFill>
          <a:ln/>
        </p:spPr>
        <p:txBody>
          <a:bodyPr wrap="square" lIns="0" tIns="0" rIns="0" bIns="0" rtlCol="0" anchor="ctr"/>
          <a:lstStyle/>
          <a:p>
            <a:pPr algn="ctr" indent="0" marL="0">
              <a:buNone/>
            </a:pPr>
            <a:r>
              <a:rPr lang="en-US" sz="1500" b="1" spc="200" kern="0" dirty="0">
                <a:solidFill>
                  <a:srgbClr val="FFFFFF"/>
                </a:solidFill>
                <a:latin typeface="Oswald" pitchFamily="34" charset="0"/>
                <a:ea typeface="Oswald" pitchFamily="34" charset="-122"/>
                <a:cs typeface="Oswald" pitchFamily="34" charset="-120"/>
              </a:rPr>
              <a:t>CODE EN DIRECT</a:t>
            </a:r>
            <a:endParaRPr lang="en-US" sz="1500" dirty="0"/>
          </a:p>
        </p:txBody>
      </p:sp>
      <p:sp>
        <p:nvSpPr>
          <p:cNvPr id="5" name="Text 3"/>
          <p:cNvSpPr/>
          <p:nvPr/>
        </p:nvSpPr>
        <p:spPr>
          <a:xfrm>
            <a:off x="3017520" y="1965960"/>
            <a:ext cx="8503920" cy="457200"/>
          </a:xfrm>
          <a:prstGeom prst="rect">
            <a:avLst/>
          </a:prstGeom>
          <a:noFill/>
          <a:ln/>
        </p:spPr>
        <p:txBody>
          <a:bodyPr wrap="square" lIns="0" tIns="0" rIns="0" bIns="0" rtlCol="0" anchor="ctr"/>
          <a:lstStyle/>
          <a:p>
            <a:pPr algn="l" indent="0" marL="0">
              <a:buNone/>
            </a:pPr>
            <a:r>
              <a:rPr lang="en-US" sz="1500" dirty="0">
                <a:solidFill>
                  <a:srgbClr val="C7C7D1"/>
                </a:solidFill>
                <a:latin typeface="Courier New" pitchFamily="34" charset="0"/>
                <a:ea typeface="Courier New" pitchFamily="34" charset="-122"/>
                <a:cs typeface="Courier New" pitchFamily="34" charset="-120"/>
              </a:rPr>
              <a:t>bd/init/05_concert_schema.sql  ·  04_artist_schema.sql  ·  create_artist.controller.ts</a:t>
            </a:r>
            <a:endParaRPr lang="en-US" sz="1500" dirty="0"/>
          </a:p>
        </p:txBody>
      </p:sp>
      <p:sp>
        <p:nvSpPr>
          <p:cNvPr id="6" name="Shape 4"/>
          <p:cNvSpPr/>
          <p:nvPr/>
        </p:nvSpPr>
        <p:spPr>
          <a:xfrm>
            <a:off x="640080" y="3328416"/>
            <a:ext cx="100584" cy="100584"/>
          </a:xfrm>
          <a:prstGeom prst="rect">
            <a:avLst/>
          </a:prstGeom>
          <a:solidFill>
            <a:srgbClr val="C1121F"/>
          </a:solidFill>
          <a:ln/>
        </p:spPr>
      </p:sp>
      <p:sp>
        <p:nvSpPr>
          <p:cNvPr id="7" name="Text 5"/>
          <p:cNvSpPr/>
          <p:nvPr/>
        </p:nvSpPr>
        <p:spPr>
          <a:xfrm>
            <a:off x="896112" y="3200400"/>
            <a:ext cx="106070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Contrainte EXCLUDE USING gist → aucun chevauchement de concerts (garanti en base, pas en JS)</a:t>
            </a:r>
            <a:endParaRPr lang="en-US" sz="1600" dirty="0"/>
          </a:p>
        </p:txBody>
      </p:sp>
      <p:sp>
        <p:nvSpPr>
          <p:cNvPr id="8" name="Shape 6"/>
          <p:cNvSpPr/>
          <p:nvPr/>
        </p:nvSpPr>
        <p:spPr>
          <a:xfrm>
            <a:off x="640080" y="4242816"/>
            <a:ext cx="100584" cy="100584"/>
          </a:xfrm>
          <a:prstGeom prst="rect">
            <a:avLst/>
          </a:prstGeom>
          <a:solidFill>
            <a:srgbClr val="C1121F"/>
          </a:solidFill>
          <a:ln/>
        </p:spPr>
      </p:sp>
      <p:sp>
        <p:nvSpPr>
          <p:cNvPr id="9" name="Text 7"/>
          <p:cNvSpPr/>
          <p:nvPr/>
        </p:nvSpPr>
        <p:spPr>
          <a:xfrm>
            <a:off x="896112" y="4114800"/>
            <a:ext cx="106070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Trigger check_featured_limit → maximum 2 artistes mis en avant</a:t>
            </a:r>
            <a:endParaRPr lang="en-US" sz="1600" dirty="0"/>
          </a:p>
        </p:txBody>
      </p:sp>
      <p:sp>
        <p:nvSpPr>
          <p:cNvPr id="10" name="Shape 8"/>
          <p:cNvSpPr/>
          <p:nvPr/>
        </p:nvSpPr>
        <p:spPr>
          <a:xfrm>
            <a:off x="640080" y="5157216"/>
            <a:ext cx="100584" cy="100584"/>
          </a:xfrm>
          <a:prstGeom prst="rect">
            <a:avLst/>
          </a:prstGeom>
          <a:solidFill>
            <a:srgbClr val="C1121F"/>
          </a:solidFill>
          <a:ln/>
        </p:spPr>
      </p:sp>
      <p:sp>
        <p:nvSpPr>
          <p:cNvPr id="11" name="Text 9"/>
          <p:cNvSpPr/>
          <p:nvPr/>
        </p:nvSpPr>
        <p:spPr>
          <a:xfrm>
            <a:off x="896112" y="5029200"/>
            <a:ext cx="106070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Exception PostgreSQL interceptée dans le catch → traduite en erreur métier 409 (+ ROLLBACK)</a:t>
            </a:r>
            <a:endParaRPr lang="en-US" sz="1600" dirty="0"/>
          </a:p>
        </p:txBody>
      </p:sp>
      <p:sp>
        <p:nvSpPr>
          <p:cNvPr id="12" name="Text 10"/>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3" name="Text 11"/>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Focus code — couche d’accès aux données</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Text 2"/>
          <p:cNvSpPr/>
          <p:nvPr/>
        </p:nvSpPr>
        <p:spPr>
          <a:xfrm>
            <a:off x="658368" y="1965960"/>
            <a:ext cx="2194560" cy="457200"/>
          </a:xfrm>
          <a:prstGeom prst="rect">
            <a:avLst/>
          </a:prstGeom>
          <a:solidFill>
            <a:srgbClr val="C1121F"/>
          </a:solidFill>
          <a:ln/>
        </p:spPr>
        <p:txBody>
          <a:bodyPr wrap="square" lIns="0" tIns="0" rIns="0" bIns="0" rtlCol="0" anchor="ctr"/>
          <a:lstStyle/>
          <a:p>
            <a:pPr algn="ctr" indent="0" marL="0">
              <a:buNone/>
            </a:pPr>
            <a:r>
              <a:rPr lang="en-US" sz="1500" b="1" spc="200" kern="0" dirty="0">
                <a:solidFill>
                  <a:srgbClr val="FFFFFF"/>
                </a:solidFill>
                <a:latin typeface="Oswald" pitchFamily="34" charset="0"/>
                <a:ea typeface="Oswald" pitchFamily="34" charset="-122"/>
                <a:cs typeface="Oswald" pitchFamily="34" charset="-120"/>
              </a:rPr>
              <a:t>CODE EN DIRECT</a:t>
            </a:r>
            <a:endParaRPr lang="en-US" sz="1500" dirty="0"/>
          </a:p>
        </p:txBody>
      </p:sp>
      <p:sp>
        <p:nvSpPr>
          <p:cNvPr id="5" name="Text 3"/>
          <p:cNvSpPr/>
          <p:nvPr/>
        </p:nvSpPr>
        <p:spPr>
          <a:xfrm>
            <a:off x="3017520" y="1965960"/>
            <a:ext cx="8503920" cy="457200"/>
          </a:xfrm>
          <a:prstGeom prst="rect">
            <a:avLst/>
          </a:prstGeom>
          <a:noFill/>
          <a:ln/>
        </p:spPr>
        <p:txBody>
          <a:bodyPr wrap="square" lIns="0" tIns="0" rIns="0" bIns="0" rtlCol="0" anchor="ctr"/>
          <a:lstStyle/>
          <a:p>
            <a:pPr algn="l" indent="0" marL="0">
              <a:buNone/>
            </a:pPr>
            <a:r>
              <a:rPr lang="en-US" sz="1500" dirty="0">
                <a:solidFill>
                  <a:srgbClr val="C7C7D1"/>
                </a:solidFill>
                <a:latin typeface="Courier New" pitchFamily="34" charset="0"/>
                <a:ea typeface="Courier New" pitchFamily="34" charset="-122"/>
                <a:cs typeface="Courier New" pitchFamily="34" charset="-120"/>
              </a:rPr>
              <a:t>apps/frontend/src/functions/apiRequest.ts</a:t>
            </a:r>
            <a:endParaRPr lang="en-US" sz="1500" dirty="0"/>
          </a:p>
        </p:txBody>
      </p:sp>
      <p:sp>
        <p:nvSpPr>
          <p:cNvPr id="6" name="Shape 4"/>
          <p:cNvSpPr/>
          <p:nvPr/>
        </p:nvSpPr>
        <p:spPr>
          <a:xfrm>
            <a:off x="640080" y="3328416"/>
            <a:ext cx="100584" cy="100584"/>
          </a:xfrm>
          <a:prstGeom prst="rect">
            <a:avLst/>
          </a:prstGeom>
          <a:solidFill>
            <a:srgbClr val="C1121F"/>
          </a:solidFill>
          <a:ln/>
        </p:spPr>
      </p:sp>
      <p:sp>
        <p:nvSpPr>
          <p:cNvPr id="7" name="Text 5"/>
          <p:cNvSpPr/>
          <p:nvPr/>
        </p:nvSpPr>
        <p:spPr>
          <a:xfrm>
            <a:off x="896112" y="3200400"/>
            <a:ext cx="106070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Union discriminée { data | error } → traitement d’erreur forcé par TypeScript, pas de try/catch dans les composants</a:t>
            </a:r>
            <a:endParaRPr lang="en-US" sz="1600" dirty="0"/>
          </a:p>
        </p:txBody>
      </p:sp>
      <p:sp>
        <p:nvSpPr>
          <p:cNvPr id="8" name="Shape 6"/>
          <p:cNvSpPr/>
          <p:nvPr/>
        </p:nvSpPr>
        <p:spPr>
          <a:xfrm>
            <a:off x="640080" y="4242816"/>
            <a:ext cx="100584" cy="100584"/>
          </a:xfrm>
          <a:prstGeom prst="rect">
            <a:avLst/>
          </a:prstGeom>
          <a:solidFill>
            <a:srgbClr val="C1121F"/>
          </a:solidFill>
          <a:ln/>
        </p:spPr>
      </p:sp>
      <p:sp>
        <p:nvSpPr>
          <p:cNvPr id="9" name="Text 7"/>
          <p:cNvSpPr/>
          <p:nvPr/>
        </p:nvSpPr>
        <p:spPr>
          <a:xfrm>
            <a:off x="896112" y="4114800"/>
            <a:ext cx="106070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Cookie httpOnly envoyé automatiquement via credentials: "include"</a:t>
            </a:r>
            <a:endParaRPr lang="en-US" sz="1600" dirty="0"/>
          </a:p>
        </p:txBody>
      </p:sp>
      <p:sp>
        <p:nvSpPr>
          <p:cNvPr id="10" name="Shape 8"/>
          <p:cNvSpPr/>
          <p:nvPr/>
        </p:nvSpPr>
        <p:spPr>
          <a:xfrm>
            <a:off x="640080" y="5157216"/>
            <a:ext cx="100584" cy="100584"/>
          </a:xfrm>
          <a:prstGeom prst="rect">
            <a:avLst/>
          </a:prstGeom>
          <a:solidFill>
            <a:srgbClr val="C1121F"/>
          </a:solidFill>
          <a:ln/>
        </p:spPr>
      </p:sp>
      <p:sp>
        <p:nvSpPr>
          <p:cNvPr id="11" name="Text 9"/>
          <p:cNvSpPr/>
          <p:nvPr/>
        </p:nvSpPr>
        <p:spPr>
          <a:xfrm>
            <a:off x="896112" y="5029200"/>
            <a:ext cx="10607040" cy="411480"/>
          </a:xfrm>
          <a:prstGeom prst="rect">
            <a:avLst/>
          </a:prstGeom>
          <a:noFill/>
          <a:ln/>
        </p:spPr>
        <p:txBody>
          <a:bodyPr wrap="square" lIns="0" tIns="0" rIns="0" bIns="0" rtlCol="0" anchor="t"/>
          <a:lstStyle/>
          <a:p>
            <a:pPr algn="l" indent="0" marL="0">
              <a:buNone/>
            </a:pPr>
            <a:r>
              <a:rPr lang="en-US" sz="1600" dirty="0">
                <a:solidFill>
                  <a:srgbClr val="C7C7D1"/>
                </a:solidFill>
                <a:latin typeface="Inter" pitchFamily="34" charset="0"/>
                <a:ea typeface="Inter" pitchFamily="34" charset="-122"/>
                <a:cs typeface="Inter" pitchFamily="34" charset="-120"/>
              </a:rPr>
              <a:t>Gestion d’erreur centralisée : 3 cas (erreur API, erreur technique, cas limite)</a:t>
            </a:r>
            <a:endParaRPr lang="en-US" sz="1600" dirty="0"/>
          </a:p>
        </p:txBody>
      </p:sp>
      <p:sp>
        <p:nvSpPr>
          <p:cNvPr id="12" name="Text 10"/>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3" name="Text 11"/>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Authentification &amp; contrôle d’accès</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231136"/>
            <a:ext cx="100584" cy="100584"/>
          </a:xfrm>
          <a:prstGeom prst="rect">
            <a:avLst/>
          </a:prstGeom>
          <a:solidFill>
            <a:srgbClr val="C1121F"/>
          </a:solidFill>
          <a:ln/>
        </p:spPr>
      </p:sp>
      <p:sp>
        <p:nvSpPr>
          <p:cNvPr id="5" name="Text 3"/>
          <p:cNvSpPr/>
          <p:nvPr/>
        </p:nvSpPr>
        <p:spPr>
          <a:xfrm>
            <a:off x="896112" y="2103120"/>
            <a:ext cx="502920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JWT signé</a:t>
            </a:r>
            <a:pPr algn="l" indent="0" marL="0">
              <a:buNone/>
            </a:pPr>
            <a:r>
              <a:rPr lang="en-US" sz="1400" dirty="0">
                <a:solidFill>
                  <a:srgbClr val="C7C7D1"/>
                </a:solidFill>
                <a:latin typeface="Inter" pitchFamily="34" charset="0"/>
                <a:ea typeface="Inter" pitchFamily="34" charset="-122"/>
                <a:cs typeface="Inter" pitchFamily="34" charset="-120"/>
              </a:rPr>
              <a:t>  —  payload minimal (userId, sessionId), 1h</a:t>
            </a:r>
            <a:endParaRPr lang="en-US" sz="1400" dirty="0"/>
          </a:p>
        </p:txBody>
      </p:sp>
      <p:sp>
        <p:nvSpPr>
          <p:cNvPr id="6" name="Shape 4"/>
          <p:cNvSpPr/>
          <p:nvPr/>
        </p:nvSpPr>
        <p:spPr>
          <a:xfrm>
            <a:off x="640080" y="3191256"/>
            <a:ext cx="100584" cy="100584"/>
          </a:xfrm>
          <a:prstGeom prst="rect">
            <a:avLst/>
          </a:prstGeom>
          <a:solidFill>
            <a:srgbClr val="C1121F"/>
          </a:solidFill>
          <a:ln/>
        </p:spPr>
      </p:sp>
      <p:sp>
        <p:nvSpPr>
          <p:cNvPr id="7" name="Text 5"/>
          <p:cNvSpPr/>
          <p:nvPr/>
        </p:nvSpPr>
        <p:spPr>
          <a:xfrm>
            <a:off x="896112" y="3063240"/>
            <a:ext cx="502920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Cookie httpOnly</a:t>
            </a:r>
            <a:pPr algn="l" indent="0" marL="0">
              <a:buNone/>
            </a:pPr>
            <a:r>
              <a:rPr lang="en-US" sz="1400" dirty="0">
                <a:solidFill>
                  <a:srgbClr val="C7C7D1"/>
                </a:solidFill>
                <a:latin typeface="Inter" pitchFamily="34" charset="0"/>
                <a:ea typeface="Inter" pitchFamily="34" charset="-122"/>
                <a:cs typeface="Inter" pitchFamily="34" charset="-120"/>
              </a:rPr>
              <a:t>  —  anti-XSS, + Secure, SameSite=lax</a:t>
            </a:r>
            <a:endParaRPr lang="en-US" sz="1400" dirty="0"/>
          </a:p>
        </p:txBody>
      </p:sp>
      <p:sp>
        <p:nvSpPr>
          <p:cNvPr id="8" name="Shape 6"/>
          <p:cNvSpPr/>
          <p:nvPr/>
        </p:nvSpPr>
        <p:spPr>
          <a:xfrm>
            <a:off x="640080" y="4151376"/>
            <a:ext cx="100584" cy="100584"/>
          </a:xfrm>
          <a:prstGeom prst="rect">
            <a:avLst/>
          </a:prstGeom>
          <a:solidFill>
            <a:srgbClr val="C1121F"/>
          </a:solidFill>
          <a:ln/>
        </p:spPr>
      </p:sp>
      <p:sp>
        <p:nvSpPr>
          <p:cNvPr id="9" name="Text 7"/>
          <p:cNvSpPr/>
          <p:nvPr/>
        </p:nvSpPr>
        <p:spPr>
          <a:xfrm>
            <a:off x="896112" y="4023360"/>
            <a:ext cx="502920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Sessions en base</a:t>
            </a:r>
            <a:pPr algn="l" indent="0" marL="0">
              <a:buNone/>
            </a:pPr>
            <a:r>
              <a:rPr lang="en-US" sz="1400" dirty="0">
                <a:solidFill>
                  <a:srgbClr val="C7C7D1"/>
                </a:solidFill>
                <a:latin typeface="Inter" pitchFamily="34" charset="0"/>
                <a:ea typeface="Inter" pitchFamily="34" charset="-122"/>
                <a:cs typeface="Inter" pitchFamily="34" charset="-120"/>
              </a:rPr>
              <a:t>  —  révocation explicite (logout, cascade)</a:t>
            </a:r>
            <a:endParaRPr lang="en-US" sz="1400" dirty="0"/>
          </a:p>
        </p:txBody>
      </p:sp>
      <p:sp>
        <p:nvSpPr>
          <p:cNvPr id="10" name="Shape 8"/>
          <p:cNvSpPr/>
          <p:nvPr/>
        </p:nvSpPr>
        <p:spPr>
          <a:xfrm>
            <a:off x="640080" y="5111496"/>
            <a:ext cx="100584" cy="100584"/>
          </a:xfrm>
          <a:prstGeom prst="rect">
            <a:avLst/>
          </a:prstGeom>
          <a:solidFill>
            <a:srgbClr val="C1121F"/>
          </a:solidFill>
          <a:ln/>
        </p:spPr>
      </p:sp>
      <p:sp>
        <p:nvSpPr>
          <p:cNvPr id="11" name="Text 9"/>
          <p:cNvSpPr/>
          <p:nvPr/>
        </p:nvSpPr>
        <p:spPr>
          <a:xfrm>
            <a:off x="896112" y="4983480"/>
            <a:ext cx="502920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RBAC serveur</a:t>
            </a:r>
            <a:pPr algn="l" indent="0" marL="0">
              <a:buNone/>
            </a:pPr>
            <a:r>
              <a:rPr lang="en-US" sz="1400" dirty="0">
                <a:solidFill>
                  <a:srgbClr val="C7C7D1"/>
                </a:solidFill>
                <a:latin typeface="Inter" pitchFamily="34" charset="0"/>
                <a:ea typeface="Inter" pitchFamily="34" charset="-122"/>
                <a:cs typeface="Inter" pitchFamily="34" charset="-120"/>
              </a:rPr>
              <a:t>  —  requireRole → 403 ; frontend = confort</a:t>
            </a:r>
            <a:endParaRPr lang="en-US" sz="1400" dirty="0"/>
          </a:p>
        </p:txBody>
      </p:sp>
      <p:sp>
        <p:nvSpPr>
          <p:cNvPr id="12" name="Shape 10"/>
          <p:cNvSpPr/>
          <p:nvPr/>
        </p:nvSpPr>
        <p:spPr>
          <a:xfrm>
            <a:off x="6858000" y="2011680"/>
            <a:ext cx="4663440" cy="676656"/>
          </a:xfrm>
          <a:prstGeom prst="roundRect">
            <a:avLst>
              <a:gd name="adj" fmla="val 8108"/>
            </a:avLst>
          </a:prstGeom>
          <a:solidFill>
            <a:srgbClr val="14141C"/>
          </a:solidFill>
          <a:ln w="12700">
            <a:solidFill>
              <a:srgbClr val="2E2E3C"/>
            </a:solidFill>
            <a:prstDash val="solid"/>
          </a:ln>
        </p:spPr>
      </p:sp>
      <p:sp>
        <p:nvSpPr>
          <p:cNvPr id="13" name="Text 11"/>
          <p:cNvSpPr/>
          <p:nvPr/>
        </p:nvSpPr>
        <p:spPr>
          <a:xfrm>
            <a:off x="6995160" y="2011680"/>
            <a:ext cx="4389120" cy="676656"/>
          </a:xfrm>
          <a:prstGeom prst="rect">
            <a:avLst/>
          </a:prstGeom>
          <a:noFill/>
          <a:ln/>
        </p:spPr>
        <p:txBody>
          <a:bodyPr wrap="square" lIns="0" tIns="0" rIns="0" bIns="0" rtlCol="0" anchor="ctr"/>
          <a:lstStyle/>
          <a:p>
            <a:pPr algn="ctr" indent="0" marL="0">
              <a:buNone/>
            </a:pPr>
            <a:r>
              <a:rPr lang="en-US" sz="1300" dirty="0">
                <a:solidFill>
                  <a:srgbClr val="C7C7D1"/>
                </a:solidFill>
                <a:latin typeface="Inter" pitchFamily="34" charset="0"/>
                <a:ea typeface="Inter" pitchFamily="34" charset="-122"/>
                <a:cs typeface="Inter" pitchFamily="34" charset="-120"/>
              </a:rPr>
              <a:t>Connexion — email + mot de passe</a:t>
            </a:r>
            <a:endParaRPr lang="en-US" sz="1300" dirty="0"/>
          </a:p>
        </p:txBody>
      </p:sp>
      <p:sp>
        <p:nvSpPr>
          <p:cNvPr id="14" name="Text 12"/>
          <p:cNvSpPr/>
          <p:nvPr/>
        </p:nvSpPr>
        <p:spPr>
          <a:xfrm>
            <a:off x="6858000" y="2670048"/>
            <a:ext cx="4663440" cy="301752"/>
          </a:xfrm>
          <a:prstGeom prst="rect">
            <a:avLst/>
          </a:prstGeom>
          <a:noFill/>
          <a:ln/>
        </p:spPr>
        <p:txBody>
          <a:bodyPr wrap="square" lIns="0" tIns="0" rIns="0" bIns="0" rtlCol="0" anchor="ctr"/>
          <a:lstStyle/>
          <a:p>
            <a:pPr algn="ctr" indent="0" marL="0">
              <a:buNone/>
            </a:pPr>
            <a:r>
              <a:rPr lang="en-US" sz="1600" dirty="0">
                <a:solidFill>
                  <a:srgbClr val="C1121F"/>
                </a:solidFill>
                <a:latin typeface="Inter" pitchFamily="34" charset="0"/>
                <a:ea typeface="Inter" pitchFamily="34" charset="-122"/>
                <a:cs typeface="Inter" pitchFamily="34" charset="-120"/>
              </a:rPr>
              <a:t>↓</a:t>
            </a:r>
            <a:endParaRPr lang="en-US" sz="1600" dirty="0"/>
          </a:p>
        </p:txBody>
      </p:sp>
      <p:sp>
        <p:nvSpPr>
          <p:cNvPr id="15" name="Shape 13"/>
          <p:cNvSpPr/>
          <p:nvPr/>
        </p:nvSpPr>
        <p:spPr>
          <a:xfrm>
            <a:off x="6858000" y="2971800"/>
            <a:ext cx="4663440" cy="676656"/>
          </a:xfrm>
          <a:prstGeom prst="roundRect">
            <a:avLst>
              <a:gd name="adj" fmla="val 8108"/>
            </a:avLst>
          </a:prstGeom>
          <a:solidFill>
            <a:srgbClr val="14141C"/>
          </a:solidFill>
          <a:ln w="12700">
            <a:solidFill>
              <a:srgbClr val="2E2E3C"/>
            </a:solidFill>
            <a:prstDash val="solid"/>
          </a:ln>
        </p:spPr>
      </p:sp>
      <p:sp>
        <p:nvSpPr>
          <p:cNvPr id="16" name="Text 14"/>
          <p:cNvSpPr/>
          <p:nvPr/>
        </p:nvSpPr>
        <p:spPr>
          <a:xfrm>
            <a:off x="6995160" y="2971800"/>
            <a:ext cx="4389120" cy="676656"/>
          </a:xfrm>
          <a:prstGeom prst="rect">
            <a:avLst/>
          </a:prstGeom>
          <a:noFill/>
          <a:ln/>
        </p:spPr>
        <p:txBody>
          <a:bodyPr wrap="square" lIns="0" tIns="0" rIns="0" bIns="0" rtlCol="0" anchor="ctr"/>
          <a:lstStyle/>
          <a:p>
            <a:pPr algn="ctr" indent="0" marL="0">
              <a:buNone/>
            </a:pPr>
            <a:r>
              <a:rPr lang="en-US" sz="1300" dirty="0">
                <a:solidFill>
                  <a:srgbClr val="C7C7D1"/>
                </a:solidFill>
                <a:latin typeface="Inter" pitchFamily="34" charset="0"/>
                <a:ea typeface="Inter" pitchFamily="34" charset="-122"/>
                <a:cs typeface="Inter" pitchFamily="34" charset="-120"/>
              </a:rPr>
              <a:t>JWT signé + session en base</a:t>
            </a:r>
            <a:endParaRPr lang="en-US" sz="1300" dirty="0"/>
          </a:p>
        </p:txBody>
      </p:sp>
      <p:sp>
        <p:nvSpPr>
          <p:cNvPr id="17" name="Text 15"/>
          <p:cNvSpPr/>
          <p:nvPr/>
        </p:nvSpPr>
        <p:spPr>
          <a:xfrm>
            <a:off x="6858000" y="3630168"/>
            <a:ext cx="4663440" cy="301752"/>
          </a:xfrm>
          <a:prstGeom prst="rect">
            <a:avLst/>
          </a:prstGeom>
          <a:noFill/>
          <a:ln/>
        </p:spPr>
        <p:txBody>
          <a:bodyPr wrap="square" lIns="0" tIns="0" rIns="0" bIns="0" rtlCol="0" anchor="ctr"/>
          <a:lstStyle/>
          <a:p>
            <a:pPr algn="ctr" indent="0" marL="0">
              <a:buNone/>
            </a:pPr>
            <a:r>
              <a:rPr lang="en-US" sz="1600" dirty="0">
                <a:solidFill>
                  <a:srgbClr val="C1121F"/>
                </a:solidFill>
                <a:latin typeface="Inter" pitchFamily="34" charset="0"/>
                <a:ea typeface="Inter" pitchFamily="34" charset="-122"/>
                <a:cs typeface="Inter" pitchFamily="34" charset="-120"/>
              </a:rPr>
              <a:t>↓</a:t>
            </a:r>
            <a:endParaRPr lang="en-US" sz="1600" dirty="0"/>
          </a:p>
        </p:txBody>
      </p:sp>
      <p:sp>
        <p:nvSpPr>
          <p:cNvPr id="18" name="Shape 16"/>
          <p:cNvSpPr/>
          <p:nvPr/>
        </p:nvSpPr>
        <p:spPr>
          <a:xfrm>
            <a:off x="6858000" y="3931920"/>
            <a:ext cx="4663440" cy="676656"/>
          </a:xfrm>
          <a:prstGeom prst="roundRect">
            <a:avLst>
              <a:gd name="adj" fmla="val 8108"/>
            </a:avLst>
          </a:prstGeom>
          <a:solidFill>
            <a:srgbClr val="14141C"/>
          </a:solidFill>
          <a:ln w="12700">
            <a:solidFill>
              <a:srgbClr val="2E2E3C"/>
            </a:solidFill>
            <a:prstDash val="solid"/>
          </a:ln>
        </p:spPr>
      </p:sp>
      <p:sp>
        <p:nvSpPr>
          <p:cNvPr id="19" name="Text 17"/>
          <p:cNvSpPr/>
          <p:nvPr/>
        </p:nvSpPr>
        <p:spPr>
          <a:xfrm>
            <a:off x="6995160" y="3931920"/>
            <a:ext cx="4389120" cy="676656"/>
          </a:xfrm>
          <a:prstGeom prst="rect">
            <a:avLst/>
          </a:prstGeom>
          <a:noFill/>
          <a:ln/>
        </p:spPr>
        <p:txBody>
          <a:bodyPr wrap="square" lIns="0" tIns="0" rIns="0" bIns="0" rtlCol="0" anchor="ctr"/>
          <a:lstStyle/>
          <a:p>
            <a:pPr algn="ctr" indent="0" marL="0">
              <a:buNone/>
            </a:pPr>
            <a:r>
              <a:rPr lang="en-US" sz="1300" dirty="0">
                <a:solidFill>
                  <a:srgbClr val="C7C7D1"/>
                </a:solidFill>
                <a:latin typeface="Inter" pitchFamily="34" charset="0"/>
                <a:ea typeface="Inter" pitchFamily="34" charset="-122"/>
                <a:cs typeface="Inter" pitchFamily="34" charset="-120"/>
              </a:rPr>
              <a:t>Cookie httpOnly déposé</a:t>
            </a:r>
            <a:endParaRPr lang="en-US" sz="1300" dirty="0"/>
          </a:p>
        </p:txBody>
      </p:sp>
      <p:sp>
        <p:nvSpPr>
          <p:cNvPr id="20" name="Text 18"/>
          <p:cNvSpPr/>
          <p:nvPr/>
        </p:nvSpPr>
        <p:spPr>
          <a:xfrm>
            <a:off x="6858000" y="4590288"/>
            <a:ext cx="4663440" cy="301752"/>
          </a:xfrm>
          <a:prstGeom prst="rect">
            <a:avLst/>
          </a:prstGeom>
          <a:noFill/>
          <a:ln/>
        </p:spPr>
        <p:txBody>
          <a:bodyPr wrap="square" lIns="0" tIns="0" rIns="0" bIns="0" rtlCol="0" anchor="ctr"/>
          <a:lstStyle/>
          <a:p>
            <a:pPr algn="ctr" indent="0" marL="0">
              <a:buNone/>
            </a:pPr>
            <a:r>
              <a:rPr lang="en-US" sz="1600" dirty="0">
                <a:solidFill>
                  <a:srgbClr val="C1121F"/>
                </a:solidFill>
                <a:latin typeface="Inter" pitchFamily="34" charset="0"/>
                <a:ea typeface="Inter" pitchFamily="34" charset="-122"/>
                <a:cs typeface="Inter" pitchFamily="34" charset="-120"/>
              </a:rPr>
              <a:t>↓</a:t>
            </a:r>
            <a:endParaRPr lang="en-US" sz="1600" dirty="0"/>
          </a:p>
        </p:txBody>
      </p:sp>
      <p:sp>
        <p:nvSpPr>
          <p:cNvPr id="21" name="Shape 19"/>
          <p:cNvSpPr/>
          <p:nvPr/>
        </p:nvSpPr>
        <p:spPr>
          <a:xfrm>
            <a:off x="6858000" y="4892040"/>
            <a:ext cx="4663440" cy="676656"/>
          </a:xfrm>
          <a:prstGeom prst="roundRect">
            <a:avLst>
              <a:gd name="adj" fmla="val 8108"/>
            </a:avLst>
          </a:prstGeom>
          <a:solidFill>
            <a:srgbClr val="14141C"/>
          </a:solidFill>
          <a:ln w="12700">
            <a:solidFill>
              <a:srgbClr val="C1121F"/>
            </a:solidFill>
            <a:prstDash val="solid"/>
          </a:ln>
        </p:spPr>
      </p:sp>
      <p:sp>
        <p:nvSpPr>
          <p:cNvPr id="22" name="Text 20"/>
          <p:cNvSpPr/>
          <p:nvPr/>
        </p:nvSpPr>
        <p:spPr>
          <a:xfrm>
            <a:off x="6995160" y="4892040"/>
            <a:ext cx="438912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Chaque requête : session + requireRole</a:t>
            </a:r>
            <a:endParaRPr lang="en-US" sz="1300" dirty="0"/>
          </a:p>
        </p:txBody>
      </p:sp>
      <p:sp>
        <p:nvSpPr>
          <p:cNvPr id="23" name="Text 21"/>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24" name="Text 22"/>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Défense en profondeur</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185416"/>
            <a:ext cx="100584" cy="100584"/>
          </a:xfrm>
          <a:prstGeom prst="rect">
            <a:avLst/>
          </a:prstGeom>
          <a:solidFill>
            <a:srgbClr val="C1121F"/>
          </a:solidFill>
          <a:ln/>
        </p:spPr>
      </p:sp>
      <p:sp>
        <p:nvSpPr>
          <p:cNvPr id="5" name="Text 3"/>
          <p:cNvSpPr/>
          <p:nvPr/>
        </p:nvSpPr>
        <p:spPr>
          <a:xfrm>
            <a:off x="896112" y="2057400"/>
            <a:ext cx="512064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Validation Zod (backend)</a:t>
            </a:r>
            <a:pPr algn="l" indent="0" marL="0">
              <a:buNone/>
            </a:pPr>
            <a:r>
              <a:rPr lang="en-US" sz="1400" dirty="0">
                <a:solidFill>
                  <a:srgbClr val="C7C7D1"/>
                </a:solidFill>
                <a:latin typeface="Inter" pitchFamily="34" charset="0"/>
                <a:ea typeface="Inter" pitchFamily="34" charset="-122"/>
                <a:cs typeface="Inter" pitchFamily="34" charset="-120"/>
              </a:rPr>
              <a:t>  —  verrou réel des entrées → 400</a:t>
            </a:r>
            <a:endParaRPr lang="en-US" sz="1400" dirty="0"/>
          </a:p>
        </p:txBody>
      </p:sp>
      <p:sp>
        <p:nvSpPr>
          <p:cNvPr id="6" name="Shape 4"/>
          <p:cNvSpPr/>
          <p:nvPr/>
        </p:nvSpPr>
        <p:spPr>
          <a:xfrm>
            <a:off x="640080" y="3145536"/>
            <a:ext cx="100584" cy="100584"/>
          </a:xfrm>
          <a:prstGeom prst="rect">
            <a:avLst/>
          </a:prstGeom>
          <a:solidFill>
            <a:srgbClr val="C1121F"/>
          </a:solidFill>
          <a:ln/>
        </p:spPr>
      </p:sp>
      <p:sp>
        <p:nvSpPr>
          <p:cNvPr id="7" name="Text 5"/>
          <p:cNvSpPr/>
          <p:nvPr/>
        </p:nvSpPr>
        <p:spPr>
          <a:xfrm>
            <a:off x="896112" y="3017520"/>
            <a:ext cx="512064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Injection SQL</a:t>
            </a:r>
            <a:pPr algn="l" indent="0" marL="0">
              <a:buNone/>
            </a:pPr>
            <a:r>
              <a:rPr lang="en-US" sz="1400" dirty="0">
                <a:solidFill>
                  <a:srgbClr val="C7C7D1"/>
                </a:solidFill>
                <a:latin typeface="Inter" pitchFamily="34" charset="0"/>
                <a:ea typeface="Inter" pitchFamily="34" charset="-122"/>
                <a:cs typeface="Inter" pitchFamily="34" charset="-120"/>
              </a:rPr>
              <a:t>  —  requêtes paramétrées, zéro concaténation</a:t>
            </a:r>
            <a:endParaRPr lang="en-US" sz="1400" dirty="0"/>
          </a:p>
        </p:txBody>
      </p:sp>
      <p:sp>
        <p:nvSpPr>
          <p:cNvPr id="8" name="Shape 6"/>
          <p:cNvSpPr/>
          <p:nvPr/>
        </p:nvSpPr>
        <p:spPr>
          <a:xfrm>
            <a:off x="640080" y="4105656"/>
            <a:ext cx="100584" cy="100584"/>
          </a:xfrm>
          <a:prstGeom prst="rect">
            <a:avLst/>
          </a:prstGeom>
          <a:solidFill>
            <a:srgbClr val="C1121F"/>
          </a:solidFill>
          <a:ln/>
        </p:spPr>
      </p:sp>
      <p:sp>
        <p:nvSpPr>
          <p:cNvPr id="9" name="Text 7"/>
          <p:cNvSpPr/>
          <p:nvPr/>
        </p:nvSpPr>
        <p:spPr>
          <a:xfrm>
            <a:off x="896112" y="3977640"/>
            <a:ext cx="512064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Rate limiting</a:t>
            </a:r>
            <a:pPr algn="l" indent="0" marL="0">
              <a:buNone/>
            </a:pPr>
            <a:r>
              <a:rPr lang="en-US" sz="1400" dirty="0">
                <a:solidFill>
                  <a:srgbClr val="C7C7D1"/>
                </a:solidFill>
                <a:latin typeface="Inter" pitchFamily="34" charset="0"/>
                <a:ea typeface="Inter" pitchFamily="34" charset="-122"/>
                <a:cs typeface="Inter" pitchFamily="34" charset="-120"/>
              </a:rPr>
              <a:t>  —  5 essais / 10 min / IP → 429</a:t>
            </a:r>
            <a:endParaRPr lang="en-US" sz="1400" dirty="0"/>
          </a:p>
        </p:txBody>
      </p:sp>
      <p:sp>
        <p:nvSpPr>
          <p:cNvPr id="10" name="Shape 8"/>
          <p:cNvSpPr/>
          <p:nvPr/>
        </p:nvSpPr>
        <p:spPr>
          <a:xfrm>
            <a:off x="640080" y="5065776"/>
            <a:ext cx="100584" cy="100584"/>
          </a:xfrm>
          <a:prstGeom prst="rect">
            <a:avLst/>
          </a:prstGeom>
          <a:solidFill>
            <a:srgbClr val="C1121F"/>
          </a:solidFill>
          <a:ln/>
        </p:spPr>
      </p:sp>
      <p:sp>
        <p:nvSpPr>
          <p:cNvPr id="11" name="Text 9"/>
          <p:cNvSpPr/>
          <p:nvPr/>
        </p:nvSpPr>
        <p:spPr>
          <a:xfrm>
            <a:off x="896112" y="4937760"/>
            <a:ext cx="512064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Upload sécurisé</a:t>
            </a:r>
            <a:pPr algn="l" indent="0" marL="0">
              <a:buNone/>
            </a:pPr>
            <a:r>
              <a:rPr lang="en-US" sz="1400" dirty="0">
                <a:solidFill>
                  <a:srgbClr val="C7C7D1"/>
                </a:solidFill>
                <a:latin typeface="Inter" pitchFamily="34" charset="0"/>
                <a:ea typeface="Inter" pitchFamily="34" charset="-122"/>
                <a:cs typeface="Inter" pitchFamily="34" charset="-120"/>
              </a:rPr>
              <a:t>  —  MIME, 5 Mo, WebP, renommage UUID</a:t>
            </a:r>
            <a:endParaRPr lang="en-US" sz="1400" dirty="0"/>
          </a:p>
        </p:txBody>
      </p:sp>
      <p:sp>
        <p:nvSpPr>
          <p:cNvPr id="12" name="Shape 10"/>
          <p:cNvSpPr/>
          <p:nvPr/>
        </p:nvSpPr>
        <p:spPr>
          <a:xfrm>
            <a:off x="6309360" y="2185416"/>
            <a:ext cx="100584" cy="100584"/>
          </a:xfrm>
          <a:prstGeom prst="rect">
            <a:avLst/>
          </a:prstGeom>
          <a:solidFill>
            <a:srgbClr val="C1121F"/>
          </a:solidFill>
          <a:ln/>
        </p:spPr>
      </p:sp>
      <p:sp>
        <p:nvSpPr>
          <p:cNvPr id="13" name="Text 11"/>
          <p:cNvSpPr/>
          <p:nvPr/>
        </p:nvSpPr>
        <p:spPr>
          <a:xfrm>
            <a:off x="6565392" y="2057400"/>
            <a:ext cx="521208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Hachage bcrypt</a:t>
            </a:r>
            <a:pPr algn="l" indent="0" marL="0">
              <a:buNone/>
            </a:pPr>
            <a:r>
              <a:rPr lang="en-US" sz="1400" dirty="0">
                <a:solidFill>
                  <a:srgbClr val="C7C7D1"/>
                </a:solidFill>
                <a:latin typeface="Inter" pitchFamily="34" charset="0"/>
                <a:ea typeface="Inter" pitchFamily="34" charset="-122"/>
                <a:cs typeface="Inter" pitchFamily="34" charset="-120"/>
              </a:rPr>
              <a:t>  —  10 rounds, sel auto ; jamais en clair</a:t>
            </a:r>
            <a:endParaRPr lang="en-US" sz="1400" dirty="0"/>
          </a:p>
        </p:txBody>
      </p:sp>
      <p:sp>
        <p:nvSpPr>
          <p:cNvPr id="14" name="Shape 12"/>
          <p:cNvSpPr/>
          <p:nvPr/>
        </p:nvSpPr>
        <p:spPr>
          <a:xfrm>
            <a:off x="6309360" y="3145536"/>
            <a:ext cx="100584" cy="100584"/>
          </a:xfrm>
          <a:prstGeom prst="rect">
            <a:avLst/>
          </a:prstGeom>
          <a:solidFill>
            <a:srgbClr val="C1121F"/>
          </a:solidFill>
          <a:ln/>
        </p:spPr>
      </p:sp>
      <p:sp>
        <p:nvSpPr>
          <p:cNvPr id="15" name="Text 13"/>
          <p:cNvSpPr/>
          <p:nvPr/>
        </p:nvSpPr>
        <p:spPr>
          <a:xfrm>
            <a:off x="6565392" y="3017520"/>
            <a:ext cx="521208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CORS</a:t>
            </a:r>
            <a:pPr algn="l" indent="0" marL="0">
              <a:buNone/>
            </a:pPr>
            <a:r>
              <a:rPr lang="en-US" sz="1400" dirty="0">
                <a:solidFill>
                  <a:srgbClr val="C7C7D1"/>
                </a:solidFill>
                <a:latin typeface="Inter" pitchFamily="34" charset="0"/>
                <a:ea typeface="Inter" pitchFamily="34" charset="-122"/>
                <a:cs typeface="Inter" pitchFamily="34" charset="-120"/>
              </a:rPr>
              <a:t>  —  restreint à une seule origine + credentials</a:t>
            </a:r>
            <a:endParaRPr lang="en-US" sz="1400" dirty="0"/>
          </a:p>
        </p:txBody>
      </p:sp>
      <p:sp>
        <p:nvSpPr>
          <p:cNvPr id="16" name="Shape 14"/>
          <p:cNvSpPr/>
          <p:nvPr/>
        </p:nvSpPr>
        <p:spPr>
          <a:xfrm>
            <a:off x="6309360" y="4105656"/>
            <a:ext cx="100584" cy="100584"/>
          </a:xfrm>
          <a:prstGeom prst="rect">
            <a:avLst/>
          </a:prstGeom>
          <a:solidFill>
            <a:srgbClr val="C1121F"/>
          </a:solidFill>
          <a:ln/>
        </p:spPr>
      </p:sp>
      <p:sp>
        <p:nvSpPr>
          <p:cNvPr id="17" name="Text 15"/>
          <p:cNvSpPr/>
          <p:nvPr/>
        </p:nvSpPr>
        <p:spPr>
          <a:xfrm>
            <a:off x="6565392" y="3977640"/>
            <a:ext cx="521208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Secrets hors code</a:t>
            </a:r>
            <a:pPr algn="l" indent="0" marL="0">
              <a:buNone/>
            </a:pPr>
            <a:r>
              <a:rPr lang="en-US" sz="1400" dirty="0">
                <a:solidFill>
                  <a:srgbClr val="C7C7D1"/>
                </a:solidFill>
                <a:latin typeface="Inter" pitchFamily="34" charset="0"/>
                <a:ea typeface="Inter" pitchFamily="34" charset="-122"/>
                <a:cs typeface="Inter" pitchFamily="34" charset="-120"/>
              </a:rPr>
              <a:t>  —  .env + validation fail-fast (19 variables)</a:t>
            </a:r>
            <a:endParaRPr lang="en-US" sz="1400" dirty="0"/>
          </a:p>
        </p:txBody>
      </p:sp>
      <p:sp>
        <p:nvSpPr>
          <p:cNvPr id="18" name="Text 16"/>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9" name="Text 17"/>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Stratégie de tests &amp; jeu d’essai</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Text 2"/>
          <p:cNvSpPr/>
          <p:nvPr/>
        </p:nvSpPr>
        <p:spPr>
          <a:xfrm>
            <a:off x="640080" y="1965960"/>
            <a:ext cx="5029200" cy="320040"/>
          </a:xfrm>
          <a:prstGeom prst="rect">
            <a:avLst/>
          </a:prstGeom>
          <a:noFill/>
          <a:ln/>
        </p:spPr>
        <p:txBody>
          <a:bodyPr wrap="square" lIns="0" tIns="0" rIns="0" bIns="0" rtlCol="0" anchor="ctr"/>
          <a:lstStyle/>
          <a:p>
            <a:pPr algn="l" indent="0" marL="0">
              <a:buNone/>
            </a:pPr>
            <a:r>
              <a:rPr lang="en-US" sz="1500" b="1" spc="100" kern="0" dirty="0">
                <a:solidFill>
                  <a:srgbClr val="C1121F"/>
                </a:solidFill>
                <a:latin typeface="Oswald" pitchFamily="34" charset="0"/>
                <a:ea typeface="Oswald" pitchFamily="34" charset="-122"/>
                <a:cs typeface="Oswald" pitchFamily="34" charset="-120"/>
              </a:rPr>
              <a:t>PYRAMIDE DE TESTS</a:t>
            </a:r>
            <a:endParaRPr lang="en-US" sz="1500" dirty="0"/>
          </a:p>
        </p:txBody>
      </p:sp>
      <p:sp>
        <p:nvSpPr>
          <p:cNvPr id="5" name="Shape 3"/>
          <p:cNvSpPr/>
          <p:nvPr/>
        </p:nvSpPr>
        <p:spPr>
          <a:xfrm>
            <a:off x="1737360" y="2377440"/>
            <a:ext cx="2011680" cy="640080"/>
          </a:xfrm>
          <a:prstGeom prst="rect">
            <a:avLst/>
          </a:prstGeom>
          <a:solidFill>
            <a:srgbClr val="14141C"/>
          </a:solidFill>
          <a:ln w="12700">
            <a:solidFill>
              <a:srgbClr val="2E2E3C"/>
            </a:solidFill>
            <a:prstDash val="solid"/>
          </a:ln>
        </p:spPr>
      </p:sp>
      <p:sp>
        <p:nvSpPr>
          <p:cNvPr id="6" name="Text 4"/>
          <p:cNvSpPr/>
          <p:nvPr/>
        </p:nvSpPr>
        <p:spPr>
          <a:xfrm>
            <a:off x="1737360" y="2377440"/>
            <a:ext cx="2011680" cy="640080"/>
          </a:xfrm>
          <a:prstGeom prst="rect">
            <a:avLst/>
          </a:prstGeom>
          <a:noFill/>
          <a:ln/>
        </p:spPr>
        <p:txBody>
          <a:bodyPr wrap="square" lIns="0" tIns="0" rIns="0" bIns="0" rtlCol="0" anchor="ctr"/>
          <a:lstStyle/>
          <a:p>
            <a:pPr algn="ctr" indent="0" marL="0">
              <a:buNone/>
            </a:pPr>
            <a:r>
              <a:rPr lang="en-US" sz="1250" dirty="0">
                <a:solidFill>
                  <a:srgbClr val="6E6E7C"/>
                </a:solidFill>
                <a:latin typeface="Inter" pitchFamily="34" charset="0"/>
                <a:ea typeface="Inter" pitchFamily="34" charset="-122"/>
                <a:cs typeface="Inter" pitchFamily="34" charset="-120"/>
              </a:rPr>
              <a:t>Pas d’e2e</a:t>
            </a:r>
            <a:endParaRPr lang="en-US" sz="1250" dirty="0"/>
          </a:p>
        </p:txBody>
      </p:sp>
      <p:sp>
        <p:nvSpPr>
          <p:cNvPr id="7" name="Shape 5"/>
          <p:cNvSpPr/>
          <p:nvPr/>
        </p:nvSpPr>
        <p:spPr>
          <a:xfrm>
            <a:off x="1188720" y="3063240"/>
            <a:ext cx="3108960" cy="640080"/>
          </a:xfrm>
          <a:prstGeom prst="rect">
            <a:avLst/>
          </a:prstGeom>
          <a:solidFill>
            <a:srgbClr val="14141C"/>
          </a:solidFill>
          <a:ln w="12700">
            <a:solidFill>
              <a:srgbClr val="C1121F"/>
            </a:solidFill>
            <a:prstDash val="solid"/>
          </a:ln>
        </p:spPr>
      </p:sp>
      <p:sp>
        <p:nvSpPr>
          <p:cNvPr id="8" name="Text 6"/>
          <p:cNvSpPr/>
          <p:nvPr/>
        </p:nvSpPr>
        <p:spPr>
          <a:xfrm>
            <a:off x="1188720" y="3063240"/>
            <a:ext cx="3108960" cy="640080"/>
          </a:xfrm>
          <a:prstGeom prst="rect">
            <a:avLst/>
          </a:prstGeom>
          <a:noFill/>
          <a:ln/>
        </p:spPr>
        <p:txBody>
          <a:bodyPr wrap="square" lIns="0" tIns="0" rIns="0" bIns="0" rtlCol="0" anchor="ctr"/>
          <a:lstStyle/>
          <a:p>
            <a:pPr algn="ctr" indent="0" marL="0">
              <a:buNone/>
            </a:pPr>
            <a:r>
              <a:rPr lang="en-US" sz="1200" dirty="0">
                <a:solidFill>
                  <a:srgbClr val="C7C7D1"/>
                </a:solidFill>
                <a:latin typeface="Inter" pitchFamily="34" charset="0"/>
                <a:ea typeface="Inter" pitchFamily="34" charset="-122"/>
                <a:cs typeface="Inter" pitchFamily="34" charset="-120"/>
              </a:rPr>
              <a:t>Intégration — Supertest + PostgreSQL test</a:t>
            </a:r>
            <a:endParaRPr lang="en-US" sz="1200" dirty="0"/>
          </a:p>
        </p:txBody>
      </p:sp>
      <p:sp>
        <p:nvSpPr>
          <p:cNvPr id="9" name="Shape 7"/>
          <p:cNvSpPr/>
          <p:nvPr/>
        </p:nvSpPr>
        <p:spPr>
          <a:xfrm>
            <a:off x="640080" y="3749040"/>
            <a:ext cx="4206240" cy="640080"/>
          </a:xfrm>
          <a:prstGeom prst="rect">
            <a:avLst/>
          </a:prstGeom>
          <a:solidFill>
            <a:srgbClr val="14141C"/>
          </a:solidFill>
          <a:ln w="12700">
            <a:solidFill>
              <a:srgbClr val="C1121F"/>
            </a:solidFill>
            <a:prstDash val="solid"/>
          </a:ln>
        </p:spPr>
      </p:sp>
      <p:sp>
        <p:nvSpPr>
          <p:cNvPr id="10" name="Text 8"/>
          <p:cNvSpPr/>
          <p:nvPr/>
        </p:nvSpPr>
        <p:spPr>
          <a:xfrm>
            <a:off x="640080" y="3749040"/>
            <a:ext cx="4206240" cy="640080"/>
          </a:xfrm>
          <a:prstGeom prst="rect">
            <a:avLst/>
          </a:prstGeom>
          <a:noFill/>
          <a:ln/>
        </p:spPr>
        <p:txBody>
          <a:bodyPr wrap="square" lIns="0" tIns="0" rIns="0" bIns="0" rtlCol="0" anchor="ctr"/>
          <a:lstStyle/>
          <a:p>
            <a:pPr algn="ctr" indent="0" marL="0">
              <a:buNone/>
            </a:pPr>
            <a:r>
              <a:rPr lang="en-US" sz="1200" dirty="0">
                <a:solidFill>
                  <a:srgbClr val="C7C7D1"/>
                </a:solidFill>
                <a:latin typeface="Inter" pitchFamily="34" charset="0"/>
                <a:ea typeface="Inter" pitchFamily="34" charset="-122"/>
                <a:cs typeface="Inter" pitchFamily="34" charset="-120"/>
              </a:rPr>
              <a:t>Unitaires — middlewares &amp; services (mockés)</a:t>
            </a:r>
            <a:endParaRPr lang="en-US" sz="1200" dirty="0"/>
          </a:p>
        </p:txBody>
      </p:sp>
      <p:sp>
        <p:nvSpPr>
          <p:cNvPr id="11" name="Text 9"/>
          <p:cNvSpPr/>
          <p:nvPr/>
        </p:nvSpPr>
        <p:spPr>
          <a:xfrm>
            <a:off x="640080" y="4572000"/>
            <a:ext cx="4206240" cy="320040"/>
          </a:xfrm>
          <a:prstGeom prst="rect">
            <a:avLst/>
          </a:prstGeom>
          <a:noFill/>
          <a:ln/>
        </p:spPr>
        <p:txBody>
          <a:bodyPr wrap="square" lIns="0" tIns="0" rIns="0" bIns="0" rtlCol="0" anchor="ctr"/>
          <a:lstStyle/>
          <a:p>
            <a:pPr algn="ctr" indent="0" marL="0">
              <a:buNone/>
            </a:pPr>
            <a:r>
              <a:rPr lang="en-US" sz="1200" dirty="0">
                <a:solidFill>
                  <a:srgbClr val="6E6E7C"/>
                </a:solidFill>
                <a:latin typeface="Inter" pitchFamily="34" charset="0"/>
                <a:ea typeface="Inter" pitchFamily="34" charset="-122"/>
                <a:cs typeface="Inter" pitchFamily="34" charset="-120"/>
              </a:rPr>
              <a:t>Vitest · Supertest · React Testing Library</a:t>
            </a:r>
            <a:endParaRPr lang="en-US" sz="1200" dirty="0"/>
          </a:p>
        </p:txBody>
      </p:sp>
      <p:sp>
        <p:nvSpPr>
          <p:cNvPr id="12" name="Text 10"/>
          <p:cNvSpPr/>
          <p:nvPr/>
        </p:nvSpPr>
        <p:spPr>
          <a:xfrm>
            <a:off x="5852160" y="1965960"/>
            <a:ext cx="1828800" cy="822960"/>
          </a:xfrm>
          <a:prstGeom prst="rect">
            <a:avLst/>
          </a:prstGeom>
          <a:noFill/>
          <a:ln/>
        </p:spPr>
        <p:txBody>
          <a:bodyPr wrap="square" lIns="0" tIns="0" rIns="0" bIns="0" rtlCol="0" anchor="ctr"/>
          <a:lstStyle/>
          <a:p>
            <a:pPr algn="l" indent="0" marL="0">
              <a:buNone/>
            </a:pPr>
            <a:r>
              <a:rPr lang="en-US" sz="4600" b="1" dirty="0">
                <a:solidFill>
                  <a:srgbClr val="C1121F"/>
                </a:solidFill>
                <a:latin typeface="Oswald" pitchFamily="34" charset="0"/>
                <a:ea typeface="Oswald" pitchFamily="34" charset="-122"/>
                <a:cs typeface="Oswald" pitchFamily="34" charset="-120"/>
              </a:rPr>
              <a:t>241</a:t>
            </a:r>
            <a:endParaRPr lang="en-US" sz="4600" dirty="0"/>
          </a:p>
        </p:txBody>
      </p:sp>
      <p:sp>
        <p:nvSpPr>
          <p:cNvPr id="13" name="Text 11"/>
          <p:cNvSpPr/>
          <p:nvPr/>
        </p:nvSpPr>
        <p:spPr>
          <a:xfrm>
            <a:off x="7635240" y="2331720"/>
            <a:ext cx="3657600" cy="457200"/>
          </a:xfrm>
          <a:prstGeom prst="rect">
            <a:avLst/>
          </a:prstGeom>
          <a:noFill/>
          <a:ln/>
        </p:spPr>
        <p:txBody>
          <a:bodyPr wrap="square" lIns="0" tIns="0" rIns="0" bIns="0" rtlCol="0" anchor="ctr"/>
          <a:lstStyle/>
          <a:p>
            <a:pPr algn="l" indent="0" marL="0">
              <a:buNone/>
            </a:pPr>
            <a:r>
              <a:rPr lang="en-US" sz="1800" dirty="0">
                <a:solidFill>
                  <a:srgbClr val="FFFFFF"/>
                </a:solidFill>
                <a:latin typeface="Inter" pitchFamily="34" charset="0"/>
                <a:ea typeface="Inter" pitchFamily="34" charset="-122"/>
                <a:cs typeface="Inter" pitchFamily="34" charset="-120"/>
              </a:rPr>
              <a:t>tests passés</a:t>
            </a:r>
            <a:endParaRPr lang="en-US" sz="1800" dirty="0"/>
          </a:p>
        </p:txBody>
      </p:sp>
      <p:sp>
        <p:nvSpPr>
          <p:cNvPr id="14" name="Text 12"/>
          <p:cNvSpPr/>
          <p:nvPr/>
        </p:nvSpPr>
        <p:spPr>
          <a:xfrm>
            <a:off x="5870448" y="2788920"/>
            <a:ext cx="5669280" cy="320040"/>
          </a:xfrm>
          <a:prstGeom prst="rect">
            <a:avLst/>
          </a:prstGeom>
          <a:noFill/>
          <a:ln/>
        </p:spPr>
        <p:txBody>
          <a:bodyPr wrap="square" lIns="0" tIns="0" rIns="0" bIns="0" rtlCol="0" anchor="ctr"/>
          <a:lstStyle/>
          <a:p>
            <a:pPr algn="l" indent="0" marL="0">
              <a:buNone/>
            </a:pPr>
            <a:r>
              <a:rPr lang="en-US" sz="1300" dirty="0">
                <a:solidFill>
                  <a:srgbClr val="C7C7D1"/>
                </a:solidFill>
                <a:latin typeface="Inter" pitchFamily="34" charset="0"/>
                <a:ea typeface="Inter" pitchFamily="34" charset="-122"/>
                <a:cs typeface="Inter" pitchFamily="34" charset="-120"/>
              </a:rPr>
              <a:t>backend 132 · frontend 109 · 39 fichiers · aucune régression</a:t>
            </a:r>
            <a:endParaRPr lang="en-US" sz="1300" dirty="0"/>
          </a:p>
        </p:txBody>
      </p:sp>
      <p:sp>
        <p:nvSpPr>
          <p:cNvPr id="15" name="Text 13"/>
          <p:cNvSpPr/>
          <p:nvPr/>
        </p:nvSpPr>
        <p:spPr>
          <a:xfrm>
            <a:off x="5852160" y="3383280"/>
            <a:ext cx="5029200" cy="320040"/>
          </a:xfrm>
          <a:prstGeom prst="rect">
            <a:avLst/>
          </a:prstGeom>
          <a:noFill/>
          <a:ln/>
        </p:spPr>
        <p:txBody>
          <a:bodyPr wrap="square" lIns="0" tIns="0" rIns="0" bIns="0" rtlCol="0" anchor="ctr"/>
          <a:lstStyle/>
          <a:p>
            <a:pPr algn="l" indent="0" marL="0">
              <a:buNone/>
            </a:pPr>
            <a:r>
              <a:rPr lang="en-US" sz="1500" b="1" spc="100" kern="0" dirty="0">
                <a:solidFill>
                  <a:srgbClr val="C1121F"/>
                </a:solidFill>
                <a:latin typeface="Oswald" pitchFamily="34" charset="0"/>
                <a:ea typeface="Oswald" pitchFamily="34" charset="-122"/>
                <a:cs typeface="Oswald" pitchFamily="34" charset="-120"/>
              </a:rPr>
              <a:t>JEU D’ESSAI — POST /admin/artists</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852160" y="3794760"/>
          <a:ext cx="5669280" cy="914400"/>
        </p:xfrm>
        <a:graphic>
          <a:graphicData uri="http://schemas.openxmlformats.org/drawingml/2006/table">
            <a:tbl>
              <a:tblPr/>
              <a:tblGrid>
                <a:gridCol w="2377440"/>
                <a:gridCol w="1828800"/>
                <a:gridCol w="1463040"/>
              </a:tblGrid>
              <a:tr h="457200">
                <a:tc>
                  <a:txBody>
                    <a:bodyPr/>
                    <a:lstStyle/>
                    <a:p>
                      <a:pPr algn="l" indent="0" marL="0">
                        <a:buNone/>
                      </a:pPr>
                      <a:r>
                        <a:rPr lang="en-US" sz="1300" b="1" dirty="0">
                          <a:solidFill>
                            <a:srgbClr val="FFFFFF"/>
                          </a:solidFill>
                          <a:latin typeface="Inter" pitchFamily="34" charset="0"/>
                          <a:ea typeface="Inter" pitchFamily="34" charset="-122"/>
                          <a:cs typeface="Inter" pitchFamily="34" charset="-120"/>
                        </a:rPr>
                        <a:t>Cas</a:t>
                      </a:r>
                      <a:endParaRPr lang="en-US" sz="1300" dirty="0">
                        <a:latin typeface="Inter" charset="0"/>
                        <a:ea typeface="Inter" charset="0"/>
                        <a:cs typeface="Inter" charset="0"/>
                      </a:endParaRPr>
                    </a:p>
                  </a:txBody>
                  <a:tcPr marL="101600" marR="1016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l" indent="0" marL="0">
                        <a:buNone/>
                      </a:pPr>
                      <a:r>
                        <a:rPr lang="en-US" sz="1300" b="1" dirty="0">
                          <a:solidFill>
                            <a:srgbClr val="FFFFFF"/>
                          </a:solidFill>
                          <a:latin typeface="Inter" pitchFamily="34" charset="0"/>
                          <a:ea typeface="Inter" pitchFamily="34" charset="-122"/>
                          <a:cs typeface="Inter" pitchFamily="34" charset="-120"/>
                        </a:rPr>
                        <a:t>Attendu</a:t>
                      </a:r>
                      <a:endParaRPr lang="en-US" sz="1300" dirty="0">
                        <a:latin typeface="Inter" charset="0"/>
                        <a:ea typeface="Inter" charset="0"/>
                        <a:cs typeface="Inter" charset="0"/>
                      </a:endParaRPr>
                    </a:p>
                  </a:txBody>
                  <a:tcPr marL="101600" marR="1016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l" indent="0" marL="0">
                        <a:buNone/>
                      </a:pPr>
                      <a:r>
                        <a:rPr lang="en-US" sz="1300" b="1" dirty="0">
                          <a:solidFill>
                            <a:srgbClr val="FFFFFF"/>
                          </a:solidFill>
                          <a:latin typeface="Inter" pitchFamily="34" charset="0"/>
                          <a:ea typeface="Inter" pitchFamily="34" charset="-122"/>
                          <a:cs typeface="Inter" pitchFamily="34" charset="-120"/>
                        </a:rPr>
                        <a:t>Obtenu</a:t>
                      </a:r>
                      <a:endParaRPr lang="en-US" sz="1300" dirty="0">
                        <a:latin typeface="Inter" charset="0"/>
                        <a:ea typeface="Inter" charset="0"/>
                        <a:cs typeface="Inter" charset="0"/>
                      </a:endParaRPr>
                    </a:p>
                  </a:txBody>
                  <a:tcPr marL="101600" marR="1016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r>
              <a:tr h="457200">
                <a:tc>
                  <a:txBody>
                    <a:bodyPr/>
                    <a:lstStyle/>
                    <a:p>
                      <a:pPr algn="l" indent="0" marL="0">
                        <a:buNone/>
                      </a:pPr>
                      <a:r>
                        <a:rPr lang="en-US" sz="1300" dirty="0">
                          <a:solidFill>
                            <a:srgbClr val="C7C7D1"/>
                          </a:solidFill>
                          <a:latin typeface="Inter" pitchFamily="34" charset="0"/>
                          <a:ea typeface="Inter" pitchFamily="34" charset="-122"/>
                          <a:cs typeface="Inter" pitchFamily="34" charset="-120"/>
                        </a:rPr>
                        <a:t>Nominal (multipart)</a:t>
                      </a:r>
                      <a:endParaRPr lang="en-US" sz="1300" dirty="0">
                        <a:latin typeface="Inter" charset="0"/>
                        <a:ea typeface="Inter" charset="0"/>
                        <a:cs typeface="Inter" charset="0"/>
                      </a:endParaRPr>
                    </a:p>
                  </a:txBody>
                  <a:tcPr marL="101600" marR="1016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l" indent="0" marL="0">
                        <a:buNone/>
                      </a:pPr>
                      <a:r>
                        <a:rPr lang="en-US" sz="1300" dirty="0">
                          <a:solidFill>
                            <a:srgbClr val="C7C7D1"/>
                          </a:solidFill>
                          <a:latin typeface="Inter" pitchFamily="34" charset="0"/>
                          <a:ea typeface="Inter" pitchFamily="34" charset="-122"/>
                          <a:cs typeface="Inter" pitchFamily="34" charset="-120"/>
                        </a:rPr>
                        <a:t>HTTP 201</a:t>
                      </a:r>
                      <a:endParaRPr lang="en-US" sz="1300" dirty="0">
                        <a:latin typeface="Inter" charset="0"/>
                        <a:ea typeface="Inter" charset="0"/>
                        <a:cs typeface="Inter" charset="0"/>
                      </a:endParaRPr>
                    </a:p>
                  </a:txBody>
                  <a:tcPr marL="101600" marR="1016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l" indent="0" marL="0">
                        <a:buNone/>
                      </a:pPr>
                      <a:r>
                        <a:rPr lang="en-US" sz="1300" dirty="0">
                          <a:solidFill>
                            <a:srgbClr val="C1121F"/>
                          </a:solidFill>
                          <a:latin typeface="Inter" pitchFamily="34" charset="0"/>
                          <a:ea typeface="Inter" pitchFamily="34" charset="-122"/>
                          <a:cs typeface="Inter" pitchFamily="34" charset="-120"/>
                        </a:rPr>
                        <a:t>201 ✓</a:t>
                      </a:r>
                      <a:endParaRPr lang="en-US" sz="1300" dirty="0">
                        <a:latin typeface="Inter" charset="0"/>
                        <a:ea typeface="Inter" charset="0"/>
                        <a:cs typeface="Inter" charset="0"/>
                      </a:endParaRPr>
                    </a:p>
                  </a:txBody>
                  <a:tcPr marL="101600" marR="1016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r>
              <a:tr h="457200">
                <a:tc>
                  <a:txBody>
                    <a:bodyPr/>
                    <a:lstStyle/>
                    <a:p>
                      <a:pPr algn="l" indent="0" marL="0">
                        <a:buNone/>
                      </a:pPr>
                      <a:r>
                        <a:rPr lang="en-US" sz="1300" dirty="0">
                          <a:solidFill>
                            <a:srgbClr val="C7C7D1"/>
                          </a:solidFill>
                          <a:latin typeface="Inter" pitchFamily="34" charset="0"/>
                          <a:ea typeface="Inter" pitchFamily="34" charset="-122"/>
                          <a:cs typeface="Inter" pitchFamily="34" charset="-120"/>
                        </a:rPr>
                        <a:t>Image manquante</a:t>
                      </a:r>
                      <a:endParaRPr lang="en-US" sz="1300" dirty="0">
                        <a:latin typeface="Inter" charset="0"/>
                        <a:ea typeface="Inter" charset="0"/>
                        <a:cs typeface="Inter" charset="0"/>
                      </a:endParaRPr>
                    </a:p>
                  </a:txBody>
                  <a:tcPr marL="101600" marR="1016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l" indent="0" marL="0">
                        <a:buNone/>
                      </a:pPr>
                      <a:r>
                        <a:rPr lang="en-US" sz="1300" dirty="0">
                          <a:solidFill>
                            <a:srgbClr val="C7C7D1"/>
                          </a:solidFill>
                          <a:latin typeface="Inter" pitchFamily="34" charset="0"/>
                          <a:ea typeface="Inter" pitchFamily="34" charset="-122"/>
                          <a:cs typeface="Inter" pitchFamily="34" charset="-120"/>
                        </a:rPr>
                        <a:t>HTTP 400</a:t>
                      </a:r>
                      <a:endParaRPr lang="en-US" sz="1300" dirty="0">
                        <a:latin typeface="Inter" charset="0"/>
                        <a:ea typeface="Inter" charset="0"/>
                        <a:cs typeface="Inter" charset="0"/>
                      </a:endParaRPr>
                    </a:p>
                  </a:txBody>
                  <a:tcPr marL="101600" marR="1016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c>
                  <a:txBody>
                    <a:bodyPr/>
                    <a:lstStyle/>
                    <a:p>
                      <a:pPr algn="l" indent="0" marL="0">
                        <a:buNone/>
                      </a:pPr>
                      <a:r>
                        <a:rPr lang="en-US" sz="1300" dirty="0">
                          <a:solidFill>
                            <a:srgbClr val="C1121F"/>
                          </a:solidFill>
                          <a:latin typeface="Inter" pitchFamily="34" charset="0"/>
                          <a:ea typeface="Inter" pitchFamily="34" charset="-122"/>
                          <a:cs typeface="Inter" pitchFamily="34" charset="-120"/>
                        </a:rPr>
                        <a:t>400 ✓</a:t>
                      </a:r>
                      <a:endParaRPr lang="en-US" sz="1300" dirty="0">
                        <a:latin typeface="Inter" charset="0"/>
                        <a:ea typeface="Inter" charset="0"/>
                        <a:cs typeface="Inter" charset="0"/>
                      </a:endParaRPr>
                    </a:p>
                  </a:txBody>
                  <a:tcPr marL="101600" marR="101600" marT="25400" marB="25400" anchor="ctr">
                    <a:lnL w="12700" cap="flat" cmpd="sng" algn="ctr">
                      <a:solidFill>
                        <a:srgbClr val="2E2E3C"/>
                      </a:solidFill>
                      <a:prstDash val="solid"/>
                      <a:round/>
                      <a:headEnd type="none" w="med" len="med"/>
                      <a:tailEnd type="none" w="med" len="med"/>
                    </a:lnL>
                    <a:lnR w="12700" cap="flat" cmpd="sng" algn="ctr">
                      <a:solidFill>
                        <a:srgbClr val="2E2E3C"/>
                      </a:solidFill>
                      <a:prstDash val="solid"/>
                      <a:round/>
                      <a:headEnd type="none" w="med" len="med"/>
                      <a:tailEnd type="none" w="med" len="med"/>
                    </a:lnR>
                    <a:lnT w="12700" cap="flat" cmpd="sng" algn="ctr">
                      <a:solidFill>
                        <a:srgbClr val="2E2E3C"/>
                      </a:solidFill>
                      <a:prstDash val="solid"/>
                      <a:round/>
                      <a:headEnd type="none" w="med" len="med"/>
                      <a:tailEnd type="none" w="med" len="med"/>
                    </a:lnT>
                    <a:lnB w="12700" cap="flat" cmpd="sng" algn="ctr">
                      <a:solidFill>
                        <a:srgbClr val="2E2E3C"/>
                      </a:solidFill>
                      <a:prstDash val="solid"/>
                      <a:round/>
                      <a:headEnd type="none" w="med" len="med"/>
                      <a:tailEnd type="none" w="med" len="med"/>
                    </a:lnB>
                    <a:solidFill>
                      <a:srgbClr val="1A1A24"/>
                    </a:solidFill>
                  </a:tcPr>
                </a:tc>
              </a:tr>
            </a:tbl>
          </a:graphicData>
        </a:graphic>
      </p:graphicFrame>
      <p:sp>
        <p:nvSpPr>
          <p:cNvPr id="17" name="Text 14"/>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8" name="Text 15"/>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Déploiement &amp; DevOps</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231136"/>
            <a:ext cx="100584" cy="100584"/>
          </a:xfrm>
          <a:prstGeom prst="rect">
            <a:avLst/>
          </a:prstGeom>
          <a:solidFill>
            <a:srgbClr val="C1121F"/>
          </a:solidFill>
          <a:ln/>
        </p:spPr>
      </p:sp>
      <p:sp>
        <p:nvSpPr>
          <p:cNvPr id="5" name="Text 3"/>
          <p:cNvSpPr/>
          <p:nvPr/>
        </p:nvSpPr>
        <p:spPr>
          <a:xfrm>
            <a:off x="896112" y="2103120"/>
            <a:ext cx="493776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Docker Compose</a:t>
            </a:r>
            <a:pPr algn="l" indent="0" marL="0">
              <a:buNone/>
            </a:pPr>
            <a:r>
              <a:rPr lang="en-US" sz="1400" dirty="0">
                <a:solidFill>
                  <a:srgbClr val="C7C7D1"/>
                </a:solidFill>
                <a:latin typeface="Inter" pitchFamily="34" charset="0"/>
                <a:ea typeface="Inter" pitchFamily="34" charset="-122"/>
                <a:cs typeface="Inter" pitchFamily="34" charset="-120"/>
              </a:rPr>
              <a:t>  —  3 services, Dockerfiles multi-stages (dev → runner)</a:t>
            </a:r>
            <a:endParaRPr lang="en-US" sz="1400" dirty="0"/>
          </a:p>
        </p:txBody>
      </p:sp>
      <p:sp>
        <p:nvSpPr>
          <p:cNvPr id="6" name="Shape 4"/>
          <p:cNvSpPr/>
          <p:nvPr/>
        </p:nvSpPr>
        <p:spPr>
          <a:xfrm>
            <a:off x="640080" y="3328416"/>
            <a:ext cx="100584" cy="100584"/>
          </a:xfrm>
          <a:prstGeom prst="rect">
            <a:avLst/>
          </a:prstGeom>
          <a:solidFill>
            <a:srgbClr val="C1121F"/>
          </a:solidFill>
          <a:ln/>
        </p:spPr>
      </p:sp>
      <p:sp>
        <p:nvSpPr>
          <p:cNvPr id="7" name="Text 5"/>
          <p:cNvSpPr/>
          <p:nvPr/>
        </p:nvSpPr>
        <p:spPr>
          <a:xfrm>
            <a:off x="896112" y="3200400"/>
            <a:ext cx="493776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CI GitHub Actions</a:t>
            </a:r>
            <a:pPr algn="l" indent="0" marL="0">
              <a:buNone/>
            </a:pPr>
            <a:r>
              <a:rPr lang="en-US" sz="1400" dirty="0">
                <a:solidFill>
                  <a:srgbClr val="C7C7D1"/>
                </a:solidFill>
                <a:latin typeface="Inter" pitchFamily="34" charset="0"/>
                <a:ea typeface="Inter" pitchFamily="34" charset="-122"/>
                <a:cs typeface="Inter" pitchFamily="34" charset="-120"/>
              </a:rPr>
              <a:t>  —  2 jobs parallèles, lint + tests à chaque push / PR</a:t>
            </a:r>
            <a:endParaRPr lang="en-US" sz="1400" dirty="0"/>
          </a:p>
        </p:txBody>
      </p:sp>
      <p:sp>
        <p:nvSpPr>
          <p:cNvPr id="8" name="Shape 6"/>
          <p:cNvSpPr/>
          <p:nvPr/>
        </p:nvSpPr>
        <p:spPr>
          <a:xfrm>
            <a:off x="640080" y="4425696"/>
            <a:ext cx="100584" cy="100584"/>
          </a:xfrm>
          <a:prstGeom prst="rect">
            <a:avLst/>
          </a:prstGeom>
          <a:solidFill>
            <a:srgbClr val="C1121F"/>
          </a:solidFill>
          <a:ln/>
        </p:spPr>
      </p:sp>
      <p:sp>
        <p:nvSpPr>
          <p:cNvPr id="9" name="Text 7"/>
          <p:cNvSpPr/>
          <p:nvPr/>
        </p:nvSpPr>
        <p:spPr>
          <a:xfrm>
            <a:off x="896112" y="4297680"/>
            <a:ext cx="493776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Reproductible</a:t>
            </a:r>
            <a:pPr algn="l" indent="0" marL="0">
              <a:buNone/>
            </a:pPr>
            <a:r>
              <a:rPr lang="en-US" sz="1400" dirty="0">
                <a:solidFill>
                  <a:srgbClr val="C7C7D1"/>
                </a:solidFill>
                <a:latin typeface="Inter" pitchFamily="34" charset="0"/>
                <a:ea typeface="Inter" pitchFamily="34" charset="-122"/>
                <a:cs typeface="Inter" pitchFamily="34" charset="-120"/>
              </a:rPr>
              <a:t>  —  environnement identique dev / CI</a:t>
            </a:r>
            <a:endParaRPr lang="en-US" sz="1400" dirty="0"/>
          </a:p>
        </p:txBody>
      </p:sp>
      <p:sp>
        <p:nvSpPr>
          <p:cNvPr id="10" name="Shape 8"/>
          <p:cNvSpPr/>
          <p:nvPr/>
        </p:nvSpPr>
        <p:spPr>
          <a:xfrm>
            <a:off x="640080" y="5340096"/>
            <a:ext cx="100584" cy="100584"/>
          </a:xfrm>
          <a:prstGeom prst="rect">
            <a:avLst/>
          </a:prstGeom>
          <a:solidFill>
            <a:srgbClr val="C1121F"/>
          </a:solidFill>
          <a:ln/>
        </p:spPr>
      </p:sp>
      <p:sp>
        <p:nvSpPr>
          <p:cNvPr id="11" name="Text 9"/>
          <p:cNvSpPr/>
          <p:nvPr/>
        </p:nvSpPr>
        <p:spPr>
          <a:xfrm>
            <a:off x="896112" y="5212080"/>
            <a:ext cx="4937760" cy="822960"/>
          </a:xfrm>
          <a:prstGeom prst="rect">
            <a:avLst/>
          </a:prstGeom>
          <a:noFill/>
          <a:ln/>
        </p:spPr>
        <p:txBody>
          <a:bodyPr wrap="square" lIns="0" tIns="0" rIns="0" bIns="0" rtlCol="0" anchor="t"/>
          <a:lstStyle/>
          <a:p>
            <a:pPr algn="l" indent="0" marL="0">
              <a:buNone/>
            </a:pPr>
            <a:r>
              <a:rPr lang="en-US" sz="1400" b="1" dirty="0">
                <a:solidFill>
                  <a:srgbClr val="FFFFFF"/>
                </a:solidFill>
                <a:latin typeface="Inter" pitchFamily="34" charset="0"/>
                <a:ea typeface="Inter" pitchFamily="34" charset="-122"/>
                <a:cs typeface="Inter" pitchFamily="34" charset="-120"/>
              </a:rPr>
              <a:t>Déploiement prod</a:t>
            </a:r>
            <a:pPr algn="l" indent="0" marL="0">
              <a:buNone/>
            </a:pPr>
            <a:r>
              <a:rPr lang="en-US" sz="1400" dirty="0">
                <a:solidFill>
                  <a:srgbClr val="C7C7D1"/>
                </a:solidFill>
                <a:latin typeface="Inter" pitchFamily="34" charset="0"/>
                <a:ea typeface="Inter" pitchFamily="34" charset="-122"/>
                <a:cs typeface="Inter" pitchFamily="34" charset="-120"/>
              </a:rPr>
              <a:t>  —  pas encore automatisé (CD runner envisagé)</a:t>
            </a:r>
            <a:endParaRPr lang="en-US" sz="1400" dirty="0"/>
          </a:p>
        </p:txBody>
      </p:sp>
      <p:sp>
        <p:nvSpPr>
          <p:cNvPr id="12" name="Shape 10"/>
          <p:cNvSpPr/>
          <p:nvPr/>
        </p:nvSpPr>
        <p:spPr>
          <a:xfrm>
            <a:off x="6766560" y="2011680"/>
            <a:ext cx="4663440" cy="640080"/>
          </a:xfrm>
          <a:prstGeom prst="roundRect">
            <a:avLst>
              <a:gd name="adj" fmla="val 8571"/>
            </a:avLst>
          </a:prstGeom>
          <a:solidFill>
            <a:srgbClr val="14141C"/>
          </a:solidFill>
          <a:ln w="12700">
            <a:solidFill>
              <a:srgbClr val="2E2E3C"/>
            </a:solidFill>
            <a:prstDash val="solid"/>
          </a:ln>
        </p:spPr>
      </p:sp>
      <p:sp>
        <p:nvSpPr>
          <p:cNvPr id="13" name="Text 11"/>
          <p:cNvSpPr/>
          <p:nvPr/>
        </p:nvSpPr>
        <p:spPr>
          <a:xfrm>
            <a:off x="6858000" y="2011680"/>
            <a:ext cx="4480560" cy="640080"/>
          </a:xfrm>
          <a:prstGeom prst="rect">
            <a:avLst/>
          </a:prstGeom>
          <a:noFill/>
          <a:ln/>
        </p:spPr>
        <p:txBody>
          <a:bodyPr wrap="square" lIns="0" tIns="0" rIns="0" bIns="0" rtlCol="0" anchor="ctr"/>
          <a:lstStyle/>
          <a:p>
            <a:pPr algn="ctr" indent="0" marL="0">
              <a:buNone/>
            </a:pPr>
            <a:r>
              <a:rPr lang="en-US" sz="1250" dirty="0">
                <a:solidFill>
                  <a:srgbClr val="C7C7D1"/>
                </a:solidFill>
                <a:latin typeface="Inter" pitchFamily="34" charset="0"/>
                <a:ea typeface="Inter" pitchFamily="34" charset="-122"/>
                <a:cs typeface="Inter" pitchFamily="34" charset="-120"/>
              </a:rPr>
              <a:t>Push / Pull Request  (toutes branches)</a:t>
            </a:r>
            <a:endParaRPr lang="en-US" sz="1250" dirty="0"/>
          </a:p>
        </p:txBody>
      </p:sp>
      <p:sp>
        <p:nvSpPr>
          <p:cNvPr id="14" name="Text 12"/>
          <p:cNvSpPr/>
          <p:nvPr/>
        </p:nvSpPr>
        <p:spPr>
          <a:xfrm>
            <a:off x="6766560" y="2633472"/>
            <a:ext cx="4663440" cy="301752"/>
          </a:xfrm>
          <a:prstGeom prst="rect">
            <a:avLst/>
          </a:prstGeom>
          <a:noFill/>
          <a:ln/>
        </p:spPr>
        <p:txBody>
          <a:bodyPr wrap="square" lIns="0" tIns="0" rIns="0" bIns="0" rtlCol="0" anchor="ctr"/>
          <a:lstStyle/>
          <a:p>
            <a:pPr algn="ctr" indent="0" marL="0">
              <a:buNone/>
            </a:pPr>
            <a:r>
              <a:rPr lang="en-US" sz="1600" dirty="0">
                <a:solidFill>
                  <a:srgbClr val="C1121F"/>
                </a:solidFill>
                <a:latin typeface="Inter" pitchFamily="34" charset="0"/>
                <a:ea typeface="Inter" pitchFamily="34" charset="-122"/>
                <a:cs typeface="Inter" pitchFamily="34" charset="-120"/>
              </a:rPr>
              <a:t>↓</a:t>
            </a:r>
            <a:endParaRPr lang="en-US" sz="1600" dirty="0"/>
          </a:p>
        </p:txBody>
      </p:sp>
      <p:sp>
        <p:nvSpPr>
          <p:cNvPr id="15" name="Shape 13"/>
          <p:cNvSpPr/>
          <p:nvPr/>
        </p:nvSpPr>
        <p:spPr>
          <a:xfrm>
            <a:off x="6766560" y="2971800"/>
            <a:ext cx="2240280" cy="868680"/>
          </a:xfrm>
          <a:prstGeom prst="roundRect">
            <a:avLst>
              <a:gd name="adj" fmla="val 6316"/>
            </a:avLst>
          </a:prstGeom>
          <a:solidFill>
            <a:srgbClr val="14141C"/>
          </a:solidFill>
          <a:ln w="12700">
            <a:solidFill>
              <a:srgbClr val="C1121F"/>
            </a:solidFill>
            <a:prstDash val="solid"/>
          </a:ln>
        </p:spPr>
      </p:sp>
      <p:sp>
        <p:nvSpPr>
          <p:cNvPr id="16" name="Text 14"/>
          <p:cNvSpPr/>
          <p:nvPr/>
        </p:nvSpPr>
        <p:spPr>
          <a:xfrm>
            <a:off x="6858000" y="2971800"/>
            <a:ext cx="2057400"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Inter" pitchFamily="34" charset="0"/>
                <a:ea typeface="Inter" pitchFamily="34" charset="-122"/>
                <a:cs typeface="Inter" pitchFamily="34" charset="-120"/>
              </a:rPr>
              <a:t>Job backend</a:t>
            </a:r>
            <a:endParaRPr lang="en-US" sz="1250" dirty="0"/>
          </a:p>
          <a:p>
            <a:pPr algn="ctr" indent="0" marL="0">
              <a:buNone/>
            </a:pPr>
            <a:r>
              <a:rPr lang="en-US" sz="1250" b="1" dirty="0">
                <a:solidFill>
                  <a:srgbClr val="FFFFFF"/>
                </a:solidFill>
                <a:latin typeface="Inter" pitchFamily="34" charset="0"/>
                <a:ea typeface="Inter" pitchFamily="34" charset="-122"/>
                <a:cs typeface="Inter" pitchFamily="34" charset="-120"/>
              </a:rPr>
              <a:t>+ PostgreSQL réelle</a:t>
            </a:r>
            <a:endParaRPr lang="en-US" sz="1250" dirty="0"/>
          </a:p>
        </p:txBody>
      </p:sp>
      <p:sp>
        <p:nvSpPr>
          <p:cNvPr id="17" name="Shape 15"/>
          <p:cNvSpPr/>
          <p:nvPr/>
        </p:nvSpPr>
        <p:spPr>
          <a:xfrm>
            <a:off x="9189720" y="2971800"/>
            <a:ext cx="2240280" cy="868680"/>
          </a:xfrm>
          <a:prstGeom prst="roundRect">
            <a:avLst>
              <a:gd name="adj" fmla="val 6316"/>
            </a:avLst>
          </a:prstGeom>
          <a:solidFill>
            <a:srgbClr val="14141C"/>
          </a:solidFill>
          <a:ln w="12700">
            <a:solidFill>
              <a:srgbClr val="C1121F"/>
            </a:solidFill>
            <a:prstDash val="solid"/>
          </a:ln>
        </p:spPr>
      </p:sp>
      <p:sp>
        <p:nvSpPr>
          <p:cNvPr id="18" name="Text 16"/>
          <p:cNvSpPr/>
          <p:nvPr/>
        </p:nvSpPr>
        <p:spPr>
          <a:xfrm>
            <a:off x="9281160" y="2971800"/>
            <a:ext cx="2057400"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Inter" pitchFamily="34" charset="0"/>
                <a:ea typeface="Inter" pitchFamily="34" charset="-122"/>
                <a:cs typeface="Inter" pitchFamily="34" charset="-120"/>
              </a:rPr>
              <a:t>Job frontend</a:t>
            </a:r>
            <a:endParaRPr lang="en-US" sz="1250" dirty="0"/>
          </a:p>
          <a:p>
            <a:pPr algn="ctr" indent="0" marL="0">
              <a:buNone/>
            </a:pPr>
            <a:r>
              <a:rPr lang="en-US" sz="1250" b="1" dirty="0">
                <a:solidFill>
                  <a:srgbClr val="FFFFFF"/>
                </a:solidFill>
                <a:latin typeface="Inter" pitchFamily="34" charset="0"/>
                <a:ea typeface="Inter" pitchFamily="34" charset="-122"/>
                <a:cs typeface="Inter" pitchFamily="34" charset="-120"/>
              </a:rPr>
              <a:t>mocké (sans BDD)</a:t>
            </a:r>
            <a:endParaRPr lang="en-US" sz="1250" dirty="0"/>
          </a:p>
        </p:txBody>
      </p:sp>
      <p:sp>
        <p:nvSpPr>
          <p:cNvPr id="19" name="Text 17"/>
          <p:cNvSpPr/>
          <p:nvPr/>
        </p:nvSpPr>
        <p:spPr>
          <a:xfrm>
            <a:off x="6766560" y="3858768"/>
            <a:ext cx="4663440" cy="301752"/>
          </a:xfrm>
          <a:prstGeom prst="rect">
            <a:avLst/>
          </a:prstGeom>
          <a:noFill/>
          <a:ln/>
        </p:spPr>
        <p:txBody>
          <a:bodyPr wrap="square" lIns="0" tIns="0" rIns="0" bIns="0" rtlCol="0" anchor="ctr"/>
          <a:lstStyle/>
          <a:p>
            <a:pPr algn="ctr" indent="0" marL="0">
              <a:buNone/>
            </a:pPr>
            <a:r>
              <a:rPr lang="en-US" sz="1600" dirty="0">
                <a:solidFill>
                  <a:srgbClr val="C1121F"/>
                </a:solidFill>
                <a:latin typeface="Inter" pitchFamily="34" charset="0"/>
                <a:ea typeface="Inter" pitchFamily="34" charset="-122"/>
                <a:cs typeface="Inter" pitchFamily="34" charset="-120"/>
              </a:rPr>
              <a:t>↓</a:t>
            </a:r>
            <a:endParaRPr lang="en-US" sz="1600" dirty="0"/>
          </a:p>
        </p:txBody>
      </p:sp>
      <p:sp>
        <p:nvSpPr>
          <p:cNvPr id="20" name="Shape 18"/>
          <p:cNvSpPr/>
          <p:nvPr/>
        </p:nvSpPr>
        <p:spPr>
          <a:xfrm>
            <a:off x="6766560" y="4206240"/>
            <a:ext cx="4663440" cy="640080"/>
          </a:xfrm>
          <a:prstGeom prst="roundRect">
            <a:avLst>
              <a:gd name="adj" fmla="val 8571"/>
            </a:avLst>
          </a:prstGeom>
          <a:solidFill>
            <a:srgbClr val="14141C"/>
          </a:solidFill>
          <a:ln w="12700">
            <a:solidFill>
              <a:srgbClr val="2E2E3C"/>
            </a:solidFill>
            <a:prstDash val="solid"/>
          </a:ln>
        </p:spPr>
      </p:sp>
      <p:sp>
        <p:nvSpPr>
          <p:cNvPr id="21" name="Text 19"/>
          <p:cNvSpPr/>
          <p:nvPr/>
        </p:nvSpPr>
        <p:spPr>
          <a:xfrm>
            <a:off x="6858000" y="4206240"/>
            <a:ext cx="4480560" cy="640080"/>
          </a:xfrm>
          <a:prstGeom prst="rect">
            <a:avLst/>
          </a:prstGeom>
          <a:noFill/>
          <a:ln/>
        </p:spPr>
        <p:txBody>
          <a:bodyPr wrap="square" lIns="0" tIns="0" rIns="0" bIns="0" rtlCol="0" anchor="ctr"/>
          <a:lstStyle/>
          <a:p>
            <a:pPr algn="ctr" indent="0" marL="0">
              <a:buNone/>
            </a:pPr>
            <a:r>
              <a:rPr lang="en-US" sz="1250" dirty="0">
                <a:solidFill>
                  <a:srgbClr val="C7C7D1"/>
                </a:solidFill>
                <a:latin typeface="Inter" pitchFamily="34" charset="0"/>
                <a:ea typeface="Inter" pitchFamily="34" charset="-122"/>
                <a:cs typeface="Inter" pitchFamily="34" charset="-120"/>
              </a:rPr>
              <a:t>✓  lint + tests OK</a:t>
            </a:r>
            <a:endParaRPr lang="en-US" sz="1250" dirty="0"/>
          </a:p>
        </p:txBody>
      </p:sp>
      <p:sp>
        <p:nvSpPr>
          <p:cNvPr id="22" name="Text 20"/>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23" name="Text 21"/>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Veille techno &amp; sécurité</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12648" y="2258568"/>
            <a:ext cx="4032504" cy="3451653"/>
          </a:xfrm>
          <a:prstGeom prst="rect">
            <a:avLst/>
          </a:prstGeom>
          <a:solidFill>
            <a:srgbClr val="14141C"/>
          </a:solidFill>
          <a:ln w="12700">
            <a:solidFill>
              <a:srgbClr val="2E2E3C"/>
            </a:solidFill>
            <a:prstDash val="solid"/>
          </a:ln>
        </p:spPr>
      </p:sp>
      <p:pic>
        <p:nvPicPr>
          <p:cNvPr id="5" name="Image 0" descr="feedly.png">    </p:cNvPr>
          <p:cNvPicPr>
            <a:picLocks noChangeAspect="1"/>
          </p:cNvPicPr>
          <p:nvPr/>
        </p:nvPicPr>
        <p:blipFill>
          <a:blip r:embed="rId1"/>
          <a:stretch>
            <a:fillRect/>
          </a:stretch>
        </p:blipFill>
        <p:spPr>
          <a:xfrm>
            <a:off x="640080" y="2286000"/>
            <a:ext cx="3977640" cy="3396789"/>
          </a:xfrm>
          <a:prstGeom prst="rect">
            <a:avLst/>
          </a:prstGeom>
        </p:spPr>
      </p:pic>
      <p:sp>
        <p:nvSpPr>
          <p:cNvPr id="6" name="Text 3"/>
          <p:cNvSpPr/>
          <p:nvPr/>
        </p:nvSpPr>
        <p:spPr>
          <a:xfrm>
            <a:off x="457200" y="5755941"/>
            <a:ext cx="4343400" cy="274320"/>
          </a:xfrm>
          <a:prstGeom prst="rect">
            <a:avLst/>
          </a:prstGeom>
          <a:noFill/>
          <a:ln/>
        </p:spPr>
        <p:txBody>
          <a:bodyPr wrap="square" lIns="0" tIns="0" rIns="0" bIns="0" rtlCol="0" anchor="ctr"/>
          <a:lstStyle/>
          <a:p>
            <a:pPr algn="ctr" indent="0" marL="0">
              <a:buNone/>
            </a:pPr>
            <a:r>
              <a:rPr lang="en-US" sz="1100" dirty="0">
                <a:solidFill>
                  <a:srgbClr val="6E6E7C"/>
                </a:solidFill>
                <a:latin typeface="Inter" pitchFamily="34" charset="0"/>
                <a:ea typeface="Inter" pitchFamily="34" charset="-122"/>
                <a:cs typeface="Inter" pitchFamily="34" charset="-120"/>
              </a:rPr>
              <a:t>Feedly — 2 dossiers : sécurité &amp; technologique</a:t>
            </a:r>
            <a:endParaRPr lang="en-US" sz="1100" dirty="0"/>
          </a:p>
        </p:txBody>
      </p:sp>
      <p:sp>
        <p:nvSpPr>
          <p:cNvPr id="7" name="Text 4"/>
          <p:cNvSpPr/>
          <p:nvPr/>
        </p:nvSpPr>
        <p:spPr>
          <a:xfrm>
            <a:off x="5120640" y="1965960"/>
            <a:ext cx="5029200" cy="320040"/>
          </a:xfrm>
          <a:prstGeom prst="rect">
            <a:avLst/>
          </a:prstGeom>
          <a:noFill/>
          <a:ln/>
        </p:spPr>
        <p:txBody>
          <a:bodyPr wrap="square" lIns="0" tIns="0" rIns="0" bIns="0" rtlCol="0" anchor="ctr"/>
          <a:lstStyle/>
          <a:p>
            <a:pPr algn="l" indent="0" marL="0">
              <a:buNone/>
            </a:pPr>
            <a:r>
              <a:rPr lang="en-US" sz="1500" b="1" spc="100" kern="0" dirty="0">
                <a:solidFill>
                  <a:srgbClr val="C1121F"/>
                </a:solidFill>
                <a:latin typeface="Oswald" pitchFamily="34" charset="0"/>
                <a:ea typeface="Oswald" pitchFamily="34" charset="-122"/>
                <a:cs typeface="Oswald" pitchFamily="34" charset="-120"/>
              </a:rPr>
              <a:t>VEILLE APPLIQUÉE — 2 CAS VÉCUS</a:t>
            </a:r>
            <a:endParaRPr lang="en-US" sz="1500" dirty="0"/>
          </a:p>
        </p:txBody>
      </p:sp>
      <p:sp>
        <p:nvSpPr>
          <p:cNvPr id="8" name="Shape 5"/>
          <p:cNvSpPr/>
          <p:nvPr/>
        </p:nvSpPr>
        <p:spPr>
          <a:xfrm>
            <a:off x="5120640" y="2377440"/>
            <a:ext cx="6400800" cy="1600200"/>
          </a:xfrm>
          <a:prstGeom prst="roundRect">
            <a:avLst>
              <a:gd name="adj" fmla="val 3429"/>
            </a:avLst>
          </a:prstGeom>
          <a:solidFill>
            <a:srgbClr val="14141C"/>
          </a:solidFill>
          <a:ln w="12700">
            <a:solidFill>
              <a:srgbClr val="2E2E3C"/>
            </a:solidFill>
            <a:prstDash val="solid"/>
          </a:ln>
        </p:spPr>
      </p:sp>
      <p:sp>
        <p:nvSpPr>
          <p:cNvPr id="9" name="Text 6"/>
          <p:cNvSpPr/>
          <p:nvPr/>
        </p:nvSpPr>
        <p:spPr>
          <a:xfrm>
            <a:off x="5349240" y="2523744"/>
            <a:ext cx="5943600" cy="365760"/>
          </a:xfrm>
          <a:prstGeom prst="rect">
            <a:avLst/>
          </a:prstGeom>
          <a:noFill/>
          <a:ln/>
        </p:spPr>
        <p:txBody>
          <a:bodyPr wrap="square" lIns="0" tIns="0" rIns="0" bIns="0" rtlCol="0" anchor="ctr"/>
          <a:lstStyle/>
          <a:p>
            <a:pPr algn="l" indent="0" marL="0">
              <a:buNone/>
            </a:pPr>
            <a:r>
              <a:rPr lang="en-US" sz="1500" b="1" dirty="0">
                <a:solidFill>
                  <a:srgbClr val="FFFFFF"/>
                </a:solidFill>
                <a:latin typeface="Inter" pitchFamily="34" charset="0"/>
                <a:ea typeface="Inter" pitchFamily="34" charset="-122"/>
                <a:cs typeface="Inter" pitchFamily="34" charset="-120"/>
              </a:rPr>
              <a:t>Hot reload en Docker</a:t>
            </a:r>
            <a:endParaRPr lang="en-US" sz="1500" dirty="0"/>
          </a:p>
        </p:txBody>
      </p:sp>
      <p:sp>
        <p:nvSpPr>
          <p:cNvPr id="10" name="Text 7"/>
          <p:cNvSpPr/>
          <p:nvPr/>
        </p:nvSpPr>
        <p:spPr>
          <a:xfrm>
            <a:off x="5349240" y="2944368"/>
            <a:ext cx="5943600" cy="886968"/>
          </a:xfrm>
          <a:prstGeom prst="rect">
            <a:avLst/>
          </a:prstGeom>
          <a:noFill/>
          <a:ln/>
        </p:spPr>
        <p:txBody>
          <a:bodyPr wrap="square" lIns="0" tIns="0" rIns="0" bIns="0" rtlCol="0" anchor="t"/>
          <a:lstStyle/>
          <a:p>
            <a:pPr algn="l" indent="0" marL="0">
              <a:buNone/>
            </a:pPr>
            <a:r>
              <a:rPr lang="en-US" sz="1300" dirty="0">
                <a:solidFill>
                  <a:srgbClr val="C7C7D1"/>
                </a:solidFill>
                <a:latin typeface="Inter" pitchFamily="34" charset="0"/>
                <a:ea typeface="Inter" pitchFamily="34" charset="-122"/>
                <a:cs typeface="Inter" pitchFamily="34" charset="-120"/>
              </a:rPr>
              <a:t>Issue GitHub officielle Next.js #80665 : Turbopack ne respecte pas le polling en conteneur. → Contournement documenté retenu : retour au moteur Webpack.</a:t>
            </a:r>
            <a:endParaRPr lang="en-US" sz="1300" dirty="0"/>
          </a:p>
        </p:txBody>
      </p:sp>
      <p:sp>
        <p:nvSpPr>
          <p:cNvPr id="11" name="Shape 8"/>
          <p:cNvSpPr/>
          <p:nvPr/>
        </p:nvSpPr>
        <p:spPr>
          <a:xfrm>
            <a:off x="5120640" y="4160520"/>
            <a:ext cx="6400800" cy="1828800"/>
          </a:xfrm>
          <a:prstGeom prst="roundRect">
            <a:avLst>
              <a:gd name="adj" fmla="val 3000"/>
            </a:avLst>
          </a:prstGeom>
          <a:solidFill>
            <a:srgbClr val="14141C"/>
          </a:solidFill>
          <a:ln w="12700">
            <a:solidFill>
              <a:srgbClr val="2E2E3C"/>
            </a:solidFill>
            <a:prstDash val="solid"/>
          </a:ln>
        </p:spPr>
      </p:sp>
      <p:sp>
        <p:nvSpPr>
          <p:cNvPr id="12" name="Text 9"/>
          <p:cNvSpPr/>
          <p:nvPr/>
        </p:nvSpPr>
        <p:spPr>
          <a:xfrm>
            <a:off x="5349240" y="4306824"/>
            <a:ext cx="5943600" cy="365760"/>
          </a:xfrm>
          <a:prstGeom prst="rect">
            <a:avLst/>
          </a:prstGeom>
          <a:noFill/>
          <a:ln/>
        </p:spPr>
        <p:txBody>
          <a:bodyPr wrap="square" lIns="0" tIns="0" rIns="0" bIns="0" rtlCol="0" anchor="ctr"/>
          <a:lstStyle/>
          <a:p>
            <a:pPr algn="l" indent="0" marL="0">
              <a:buNone/>
            </a:pPr>
            <a:r>
              <a:rPr lang="en-US" sz="1500" b="1" dirty="0">
                <a:solidFill>
                  <a:srgbClr val="FFFFFF"/>
                </a:solidFill>
                <a:latin typeface="Inter" pitchFamily="34" charset="0"/>
                <a:ea typeface="Inter" pitchFamily="34" charset="-122"/>
                <a:cs typeface="Inter" pitchFamily="34" charset="-120"/>
              </a:rPr>
              <a:t>CVE PostCSS (CVE-2026-41305)</a:t>
            </a:r>
            <a:endParaRPr lang="en-US" sz="1500" dirty="0"/>
          </a:p>
        </p:txBody>
      </p:sp>
      <p:sp>
        <p:nvSpPr>
          <p:cNvPr id="13" name="Text 10"/>
          <p:cNvSpPr/>
          <p:nvPr/>
        </p:nvSpPr>
        <p:spPr>
          <a:xfrm>
            <a:off x="5349240" y="4727448"/>
            <a:ext cx="5943600" cy="1115568"/>
          </a:xfrm>
          <a:prstGeom prst="rect">
            <a:avLst/>
          </a:prstGeom>
          <a:noFill/>
          <a:ln/>
        </p:spPr>
        <p:txBody>
          <a:bodyPr wrap="square" lIns="0" tIns="0" rIns="0" bIns="0" rtlCol="0" anchor="t"/>
          <a:lstStyle/>
          <a:p>
            <a:pPr algn="l" indent="0" marL="0">
              <a:buNone/>
            </a:pPr>
            <a:r>
              <a:rPr lang="en-US" sz="1300" dirty="0">
                <a:solidFill>
                  <a:srgbClr val="C7C7D1"/>
                </a:solidFill>
                <a:latin typeface="Inter" pitchFamily="34" charset="0"/>
                <a:ea typeface="Inter" pitchFamily="34" charset="-122"/>
                <a:cs typeface="Inter" pitchFamily="34" charset="-120"/>
              </a:rPr>
              <a:t>Signalée par npm audit (dépendance embarquée par Next.js). Analyse : PostCSS ne traite que nos CSS internes à la compilation → scénario d’attaque inapplicable. Décision motivée : ne pas patcher (le fix imposerait un Next.js très ancien) et surveiller une version corrigée.</a:t>
            </a:r>
            <a:endParaRPr lang="en-US" sz="1300" dirty="0"/>
          </a:p>
        </p:txBody>
      </p:sp>
      <p:sp>
        <p:nvSpPr>
          <p:cNvPr id="14" name="Text 11"/>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5" name="Text 12"/>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Bilan &amp; difficultés surmontées</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Shape 2"/>
          <p:cNvSpPr/>
          <p:nvPr/>
        </p:nvSpPr>
        <p:spPr>
          <a:xfrm>
            <a:off x="640080" y="2331720"/>
            <a:ext cx="3429000" cy="3200400"/>
          </a:xfrm>
          <a:prstGeom prst="roundRect">
            <a:avLst>
              <a:gd name="adj" fmla="val 1714"/>
            </a:avLst>
          </a:prstGeom>
          <a:solidFill>
            <a:srgbClr val="14141C"/>
          </a:solidFill>
          <a:ln w="12700">
            <a:solidFill>
              <a:srgbClr val="2E2E3C"/>
            </a:solidFill>
            <a:prstDash val="solid"/>
          </a:ln>
        </p:spPr>
      </p:sp>
      <p:sp>
        <p:nvSpPr>
          <p:cNvPr id="5" name="Text 3"/>
          <p:cNvSpPr/>
          <p:nvPr/>
        </p:nvSpPr>
        <p:spPr>
          <a:xfrm>
            <a:off x="868680" y="2478024"/>
            <a:ext cx="2971800" cy="365760"/>
          </a:xfrm>
          <a:prstGeom prst="rect">
            <a:avLst/>
          </a:prstGeom>
          <a:noFill/>
          <a:ln/>
        </p:spPr>
        <p:txBody>
          <a:bodyPr wrap="square" lIns="0" tIns="0" rIns="0" bIns="0" rtlCol="0" anchor="ctr"/>
          <a:lstStyle/>
          <a:p>
            <a:pPr algn="l" indent="0" marL="0">
              <a:buNone/>
            </a:pPr>
            <a:r>
              <a:rPr lang="en-US" sz="1500" b="1" dirty="0">
                <a:solidFill>
                  <a:srgbClr val="FFFFFF"/>
                </a:solidFill>
                <a:latin typeface="Inter" pitchFamily="34" charset="0"/>
                <a:ea typeface="Inter" pitchFamily="34" charset="-122"/>
                <a:cs typeface="Inter" pitchFamily="34" charset="-120"/>
              </a:rPr>
              <a:t>Chevauchement des concerts</a:t>
            </a:r>
            <a:endParaRPr lang="en-US" sz="1500" dirty="0"/>
          </a:p>
        </p:txBody>
      </p:sp>
      <p:sp>
        <p:nvSpPr>
          <p:cNvPr id="6" name="Text 4"/>
          <p:cNvSpPr/>
          <p:nvPr/>
        </p:nvSpPr>
        <p:spPr>
          <a:xfrm>
            <a:off x="868680" y="2898648"/>
            <a:ext cx="2971800" cy="2487168"/>
          </a:xfrm>
          <a:prstGeom prst="rect">
            <a:avLst/>
          </a:prstGeom>
          <a:noFill/>
          <a:ln/>
        </p:spPr>
        <p:txBody>
          <a:bodyPr wrap="square" lIns="0" tIns="0" rIns="0" bIns="0" rtlCol="0" anchor="t"/>
          <a:lstStyle/>
          <a:p>
            <a:pPr algn="l" indent="0" marL="0">
              <a:buNone/>
            </a:pPr>
            <a:r>
              <a:rPr lang="en-US" sz="1300" dirty="0">
                <a:solidFill>
                  <a:srgbClr val="C7C7D1"/>
                </a:solidFill>
                <a:latin typeface="Inter" pitchFamily="34" charset="0"/>
                <a:ea typeface="Inter" pitchFamily="34" charset="-122"/>
                <a:cs typeface="Inter" pitchFamily="34" charset="-120"/>
              </a:rPr>
              <a:t>→ Réglé en base : extension btree_gist + contraintes EXCLUDE USING gist. Fiable même en accès concurrent.</a:t>
            </a:r>
            <a:endParaRPr lang="en-US" sz="1300" dirty="0"/>
          </a:p>
        </p:txBody>
      </p:sp>
      <p:sp>
        <p:nvSpPr>
          <p:cNvPr id="7" name="Shape 5"/>
          <p:cNvSpPr/>
          <p:nvPr/>
        </p:nvSpPr>
        <p:spPr>
          <a:xfrm>
            <a:off x="4370832" y="2331720"/>
            <a:ext cx="3429000" cy="3200400"/>
          </a:xfrm>
          <a:prstGeom prst="roundRect">
            <a:avLst>
              <a:gd name="adj" fmla="val 1714"/>
            </a:avLst>
          </a:prstGeom>
          <a:solidFill>
            <a:srgbClr val="14141C"/>
          </a:solidFill>
          <a:ln w="12700">
            <a:solidFill>
              <a:srgbClr val="2E2E3C"/>
            </a:solidFill>
            <a:prstDash val="solid"/>
          </a:ln>
        </p:spPr>
      </p:sp>
      <p:sp>
        <p:nvSpPr>
          <p:cNvPr id="8" name="Text 6"/>
          <p:cNvSpPr/>
          <p:nvPr/>
        </p:nvSpPr>
        <p:spPr>
          <a:xfrm>
            <a:off x="4599432" y="2478024"/>
            <a:ext cx="2971800" cy="365760"/>
          </a:xfrm>
          <a:prstGeom prst="rect">
            <a:avLst/>
          </a:prstGeom>
          <a:noFill/>
          <a:ln/>
        </p:spPr>
        <p:txBody>
          <a:bodyPr wrap="square" lIns="0" tIns="0" rIns="0" bIns="0" rtlCol="0" anchor="ctr"/>
          <a:lstStyle/>
          <a:p>
            <a:pPr algn="l" indent="0" marL="0">
              <a:buNone/>
            </a:pPr>
            <a:r>
              <a:rPr lang="en-US" sz="1500" b="1" dirty="0">
                <a:solidFill>
                  <a:srgbClr val="FFFFFF"/>
                </a:solidFill>
                <a:latin typeface="Inter" pitchFamily="34" charset="0"/>
                <a:ea typeface="Inter" pitchFamily="34" charset="-122"/>
                <a:cs typeface="Inter" pitchFamily="34" charset="-120"/>
              </a:rPr>
              <a:t>Hot reload en Docker</a:t>
            </a:r>
            <a:endParaRPr lang="en-US" sz="1500" dirty="0"/>
          </a:p>
        </p:txBody>
      </p:sp>
      <p:sp>
        <p:nvSpPr>
          <p:cNvPr id="9" name="Text 7"/>
          <p:cNvSpPr/>
          <p:nvPr/>
        </p:nvSpPr>
        <p:spPr>
          <a:xfrm>
            <a:off x="4599432" y="2898648"/>
            <a:ext cx="2971800" cy="2487168"/>
          </a:xfrm>
          <a:prstGeom prst="rect">
            <a:avLst/>
          </a:prstGeom>
          <a:noFill/>
          <a:ln/>
        </p:spPr>
        <p:txBody>
          <a:bodyPr wrap="square" lIns="0" tIns="0" rIns="0" bIns="0" rtlCol="0" anchor="t"/>
          <a:lstStyle/>
          <a:p>
            <a:pPr algn="l" indent="0" marL="0">
              <a:buNone/>
            </a:pPr>
            <a:r>
              <a:rPr lang="en-US" sz="1300" dirty="0">
                <a:solidFill>
                  <a:srgbClr val="C7C7D1"/>
                </a:solidFill>
                <a:latin typeface="Inter" pitchFamily="34" charset="0"/>
                <a:ea typeface="Inter" pitchFamily="34" charset="-122"/>
                <a:cs typeface="Inter" pitchFamily="34" charset="-120"/>
              </a:rPr>
              <a:t>→ Turbopack ne respecte pas le polling en conteneur. Retour au moteur Webpack (NEXT_DISABLE_TURBOPACK=1).</a:t>
            </a:r>
            <a:endParaRPr lang="en-US" sz="1300" dirty="0"/>
          </a:p>
        </p:txBody>
      </p:sp>
      <p:sp>
        <p:nvSpPr>
          <p:cNvPr id="10" name="Shape 8"/>
          <p:cNvSpPr/>
          <p:nvPr/>
        </p:nvSpPr>
        <p:spPr>
          <a:xfrm>
            <a:off x="8101584" y="2331720"/>
            <a:ext cx="3429000" cy="3200400"/>
          </a:xfrm>
          <a:prstGeom prst="roundRect">
            <a:avLst>
              <a:gd name="adj" fmla="val 1714"/>
            </a:avLst>
          </a:prstGeom>
          <a:solidFill>
            <a:srgbClr val="14141C"/>
          </a:solidFill>
          <a:ln w="12700">
            <a:solidFill>
              <a:srgbClr val="2E2E3C"/>
            </a:solidFill>
            <a:prstDash val="solid"/>
          </a:ln>
        </p:spPr>
      </p:sp>
      <p:sp>
        <p:nvSpPr>
          <p:cNvPr id="11" name="Text 9"/>
          <p:cNvSpPr/>
          <p:nvPr/>
        </p:nvSpPr>
        <p:spPr>
          <a:xfrm>
            <a:off x="8330184" y="2478024"/>
            <a:ext cx="2971800" cy="365760"/>
          </a:xfrm>
          <a:prstGeom prst="rect">
            <a:avLst/>
          </a:prstGeom>
          <a:noFill/>
          <a:ln/>
        </p:spPr>
        <p:txBody>
          <a:bodyPr wrap="square" lIns="0" tIns="0" rIns="0" bIns="0" rtlCol="0" anchor="ctr"/>
          <a:lstStyle/>
          <a:p>
            <a:pPr algn="l" indent="0" marL="0">
              <a:buNone/>
            </a:pPr>
            <a:r>
              <a:rPr lang="en-US" sz="1500" b="1" dirty="0">
                <a:solidFill>
                  <a:srgbClr val="FFFFFF"/>
                </a:solidFill>
                <a:latin typeface="Inter" pitchFamily="34" charset="0"/>
                <a:ea typeface="Inter" pitchFamily="34" charset="-122"/>
                <a:cs typeface="Inter" pitchFamily="34" charset="-120"/>
              </a:rPr>
              <a:t>Double URL d’API</a:t>
            </a:r>
            <a:endParaRPr lang="en-US" sz="1500" dirty="0"/>
          </a:p>
        </p:txBody>
      </p:sp>
      <p:sp>
        <p:nvSpPr>
          <p:cNvPr id="12" name="Text 10"/>
          <p:cNvSpPr/>
          <p:nvPr/>
        </p:nvSpPr>
        <p:spPr>
          <a:xfrm>
            <a:off x="8330184" y="2898648"/>
            <a:ext cx="2971800" cy="2487168"/>
          </a:xfrm>
          <a:prstGeom prst="rect">
            <a:avLst/>
          </a:prstGeom>
          <a:noFill/>
          <a:ln/>
        </p:spPr>
        <p:txBody>
          <a:bodyPr wrap="square" lIns="0" tIns="0" rIns="0" bIns="0" rtlCol="0" anchor="t"/>
          <a:lstStyle/>
          <a:p>
            <a:pPr algn="l" indent="0" marL="0">
              <a:buNone/>
            </a:pPr>
            <a:r>
              <a:rPr lang="en-US" sz="1300" dirty="0">
                <a:solidFill>
                  <a:srgbClr val="C7C7D1"/>
                </a:solidFill>
                <a:latin typeface="Inter" pitchFamily="34" charset="0"/>
                <a:ea typeface="Inter" pitchFamily="34" charset="-122"/>
                <a:cs typeface="Inter" pitchFamily="34" charset="-120"/>
              </a:rPr>
              <a:t>→ Le conteneur et le navigateur n’adressent pas le backend pareil. Deux variables : API_URL_SERVER (SSR) et NEXT_PUBLIC_API_URL (navigateur).</a:t>
            </a:r>
            <a:endParaRPr lang="en-US" sz="1300" dirty="0"/>
          </a:p>
        </p:txBody>
      </p:sp>
      <p:sp>
        <p:nvSpPr>
          <p:cNvPr id="13" name="Text 11"/>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14" name="Text 12"/>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640080"/>
            <a:ext cx="10881360" cy="731520"/>
          </a:xfrm>
          <a:prstGeom prst="rect">
            <a:avLst/>
          </a:prstGeom>
          <a:noFill/>
          <a:ln/>
        </p:spPr>
        <p:txBody>
          <a:bodyPr wrap="square" lIns="0" tIns="0" rIns="0" bIns="0" rtlCol="0" anchor="ctr"/>
          <a:lstStyle/>
          <a:p>
            <a:pPr algn="l" indent="0" marL="0">
              <a:buNone/>
            </a:pPr>
            <a:r>
              <a:rPr lang="en-US" sz="3200" b="1" spc="100" kern="0" dirty="0">
                <a:solidFill>
                  <a:srgbClr val="FFFFFF"/>
                </a:solidFill>
                <a:latin typeface="Oswald" pitchFamily="34" charset="0"/>
                <a:ea typeface="Oswald" pitchFamily="34" charset="-122"/>
                <a:cs typeface="Oswald" pitchFamily="34" charset="-120"/>
              </a:rPr>
              <a:t>Compétences couvertes &amp; perspectives</a:t>
            </a:r>
            <a:endParaRPr lang="en-US" sz="3200" dirty="0"/>
          </a:p>
        </p:txBody>
      </p:sp>
      <p:sp>
        <p:nvSpPr>
          <p:cNvPr id="3" name="Shape 1"/>
          <p:cNvSpPr/>
          <p:nvPr/>
        </p:nvSpPr>
        <p:spPr>
          <a:xfrm>
            <a:off x="658368" y="1481328"/>
            <a:ext cx="868680" cy="64008"/>
          </a:xfrm>
          <a:prstGeom prst="rect">
            <a:avLst/>
          </a:prstGeom>
          <a:solidFill>
            <a:srgbClr val="C1121F"/>
          </a:solidFill>
          <a:ln/>
        </p:spPr>
      </p:sp>
      <p:sp>
        <p:nvSpPr>
          <p:cNvPr id="4" name="Text 2"/>
          <p:cNvSpPr/>
          <p:nvPr/>
        </p:nvSpPr>
        <p:spPr>
          <a:xfrm>
            <a:off x="640080" y="1965960"/>
            <a:ext cx="5029200" cy="320040"/>
          </a:xfrm>
          <a:prstGeom prst="rect">
            <a:avLst/>
          </a:prstGeom>
          <a:noFill/>
          <a:ln/>
        </p:spPr>
        <p:txBody>
          <a:bodyPr wrap="square" lIns="0" tIns="0" rIns="0" bIns="0" rtlCol="0" anchor="ctr"/>
          <a:lstStyle/>
          <a:p>
            <a:pPr algn="l" indent="0" marL="0">
              <a:buNone/>
            </a:pPr>
            <a:r>
              <a:rPr lang="en-US" sz="1500" b="1" spc="100" kern="0" dirty="0">
                <a:solidFill>
                  <a:srgbClr val="C1121F"/>
                </a:solidFill>
                <a:latin typeface="Oswald" pitchFamily="34" charset="0"/>
                <a:ea typeface="Oswald" pitchFamily="34" charset="-122"/>
                <a:cs typeface="Oswald" pitchFamily="34" charset="-120"/>
              </a:rPr>
              <a:t>AT1 — DÉVELOPPER UNE APPLICATION SÉCURISÉE</a:t>
            </a:r>
            <a:endParaRPr lang="en-US" sz="1500" dirty="0"/>
          </a:p>
        </p:txBody>
      </p:sp>
      <p:sp>
        <p:nvSpPr>
          <p:cNvPr id="5" name="Text 3"/>
          <p:cNvSpPr/>
          <p:nvPr/>
        </p:nvSpPr>
        <p:spPr>
          <a:xfrm>
            <a:off x="658368" y="2331720"/>
            <a:ext cx="5577840" cy="45720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Environnement · interfaces · composants métier · gestion de projet</a:t>
            </a:r>
            <a:endParaRPr lang="en-US" sz="1400" dirty="0"/>
          </a:p>
        </p:txBody>
      </p:sp>
      <p:sp>
        <p:nvSpPr>
          <p:cNvPr id="6" name="Text 4"/>
          <p:cNvSpPr/>
          <p:nvPr/>
        </p:nvSpPr>
        <p:spPr>
          <a:xfrm>
            <a:off x="640080" y="3154680"/>
            <a:ext cx="5029200" cy="320040"/>
          </a:xfrm>
          <a:prstGeom prst="rect">
            <a:avLst/>
          </a:prstGeom>
          <a:noFill/>
          <a:ln/>
        </p:spPr>
        <p:txBody>
          <a:bodyPr wrap="square" lIns="0" tIns="0" rIns="0" bIns="0" rtlCol="0" anchor="ctr"/>
          <a:lstStyle/>
          <a:p>
            <a:pPr algn="l" indent="0" marL="0">
              <a:buNone/>
            </a:pPr>
            <a:r>
              <a:rPr lang="en-US" sz="1500" b="1" spc="100" kern="0" dirty="0">
                <a:solidFill>
                  <a:srgbClr val="C1121F"/>
                </a:solidFill>
                <a:latin typeface="Oswald" pitchFamily="34" charset="0"/>
                <a:ea typeface="Oswald" pitchFamily="34" charset="-122"/>
                <a:cs typeface="Oswald" pitchFamily="34" charset="-120"/>
              </a:rPr>
              <a:t>AT2 — CONCEVOIR ET DÉVELOPPER EN COUCHES</a:t>
            </a:r>
            <a:endParaRPr lang="en-US" sz="1500" dirty="0"/>
          </a:p>
        </p:txBody>
      </p:sp>
      <p:sp>
        <p:nvSpPr>
          <p:cNvPr id="7" name="Text 5"/>
          <p:cNvSpPr/>
          <p:nvPr/>
        </p:nvSpPr>
        <p:spPr>
          <a:xfrm>
            <a:off x="658368" y="3520440"/>
            <a:ext cx="5577840" cy="45720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Besoins &amp; maquettes · architecture · base de données · accès aux données</a:t>
            </a:r>
            <a:endParaRPr lang="en-US" sz="1400" dirty="0"/>
          </a:p>
        </p:txBody>
      </p:sp>
      <p:sp>
        <p:nvSpPr>
          <p:cNvPr id="8" name="Text 6"/>
          <p:cNvSpPr/>
          <p:nvPr/>
        </p:nvSpPr>
        <p:spPr>
          <a:xfrm>
            <a:off x="640080" y="4343400"/>
            <a:ext cx="5029200" cy="320040"/>
          </a:xfrm>
          <a:prstGeom prst="rect">
            <a:avLst/>
          </a:prstGeom>
          <a:noFill/>
          <a:ln/>
        </p:spPr>
        <p:txBody>
          <a:bodyPr wrap="square" lIns="0" tIns="0" rIns="0" bIns="0" rtlCol="0" anchor="ctr"/>
          <a:lstStyle/>
          <a:p>
            <a:pPr algn="l" indent="0" marL="0">
              <a:buNone/>
            </a:pPr>
            <a:r>
              <a:rPr lang="en-US" sz="1500" b="1" spc="100" kern="0" dirty="0">
                <a:solidFill>
                  <a:srgbClr val="C1121F"/>
                </a:solidFill>
                <a:latin typeface="Oswald" pitchFamily="34" charset="0"/>
                <a:ea typeface="Oswald" pitchFamily="34" charset="-122"/>
                <a:cs typeface="Oswald" pitchFamily="34" charset="-120"/>
              </a:rPr>
              <a:t>AT3 — PRÉPARER LE DÉPLOIEMENT</a:t>
            </a:r>
            <a:endParaRPr lang="en-US" sz="1500" dirty="0"/>
          </a:p>
        </p:txBody>
      </p:sp>
      <p:sp>
        <p:nvSpPr>
          <p:cNvPr id="9" name="Text 7"/>
          <p:cNvSpPr/>
          <p:nvPr/>
        </p:nvSpPr>
        <p:spPr>
          <a:xfrm>
            <a:off x="658368" y="4709160"/>
            <a:ext cx="5577840" cy="45720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Plans de tests · déploiement documenté · mise en production DevOps</a:t>
            </a:r>
            <a:endParaRPr lang="en-US" sz="1400" dirty="0"/>
          </a:p>
        </p:txBody>
      </p:sp>
      <p:sp>
        <p:nvSpPr>
          <p:cNvPr id="10" name="Text 8"/>
          <p:cNvSpPr/>
          <p:nvPr/>
        </p:nvSpPr>
        <p:spPr>
          <a:xfrm>
            <a:off x="658368" y="5486400"/>
            <a:ext cx="557784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Inter" pitchFamily="34" charset="0"/>
                <a:ea typeface="Inter" pitchFamily="34" charset="-122"/>
                <a:cs typeface="Inter" pitchFamily="34" charset="-120"/>
              </a:rPr>
              <a:t>11 / 11 compétences du référentiel</a:t>
            </a:r>
            <a:endParaRPr lang="en-US" sz="1400" dirty="0"/>
          </a:p>
        </p:txBody>
      </p:sp>
      <p:sp>
        <p:nvSpPr>
          <p:cNvPr id="11" name="Text 9"/>
          <p:cNvSpPr/>
          <p:nvPr/>
        </p:nvSpPr>
        <p:spPr>
          <a:xfrm>
            <a:off x="6766560" y="1965960"/>
            <a:ext cx="5029200" cy="320040"/>
          </a:xfrm>
          <a:prstGeom prst="rect">
            <a:avLst/>
          </a:prstGeom>
          <a:noFill/>
          <a:ln/>
        </p:spPr>
        <p:txBody>
          <a:bodyPr wrap="square" lIns="0" tIns="0" rIns="0" bIns="0" rtlCol="0" anchor="ctr"/>
          <a:lstStyle/>
          <a:p>
            <a:pPr algn="l" indent="0" marL="0">
              <a:buNone/>
            </a:pPr>
            <a:r>
              <a:rPr lang="en-US" sz="1500" b="1" spc="100" kern="0" dirty="0">
                <a:solidFill>
                  <a:srgbClr val="C1121F"/>
                </a:solidFill>
                <a:latin typeface="Oswald" pitchFamily="34" charset="0"/>
                <a:ea typeface="Oswald" pitchFamily="34" charset="-122"/>
                <a:cs typeface="Oswald" pitchFamily="34" charset="-120"/>
              </a:rPr>
              <a:t>PERSPECTIVES</a:t>
            </a:r>
            <a:endParaRPr lang="en-US" sz="1500" dirty="0"/>
          </a:p>
        </p:txBody>
      </p:sp>
      <p:sp>
        <p:nvSpPr>
          <p:cNvPr id="12" name="Shape 10"/>
          <p:cNvSpPr/>
          <p:nvPr/>
        </p:nvSpPr>
        <p:spPr>
          <a:xfrm>
            <a:off x="6766560" y="2505456"/>
            <a:ext cx="100584" cy="100584"/>
          </a:xfrm>
          <a:prstGeom prst="rect">
            <a:avLst/>
          </a:prstGeom>
          <a:solidFill>
            <a:srgbClr val="C1121F"/>
          </a:solidFill>
          <a:ln/>
        </p:spPr>
      </p:sp>
      <p:sp>
        <p:nvSpPr>
          <p:cNvPr id="13" name="Text 11"/>
          <p:cNvSpPr/>
          <p:nvPr/>
        </p:nvSpPr>
        <p:spPr>
          <a:xfrm>
            <a:off x="7022592" y="2377440"/>
            <a:ext cx="466344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Hébergement en ligne + CD automatisé</a:t>
            </a:r>
            <a:endParaRPr lang="en-US" sz="1400" dirty="0"/>
          </a:p>
        </p:txBody>
      </p:sp>
      <p:sp>
        <p:nvSpPr>
          <p:cNvPr id="14" name="Shape 12"/>
          <p:cNvSpPr/>
          <p:nvPr/>
        </p:nvSpPr>
        <p:spPr>
          <a:xfrm>
            <a:off x="6766560" y="3191256"/>
            <a:ext cx="100584" cy="100584"/>
          </a:xfrm>
          <a:prstGeom prst="rect">
            <a:avLst/>
          </a:prstGeom>
          <a:solidFill>
            <a:srgbClr val="C1121F"/>
          </a:solidFill>
          <a:ln/>
        </p:spPr>
      </p:sp>
      <p:sp>
        <p:nvSpPr>
          <p:cNvPr id="15" name="Text 13"/>
          <p:cNvSpPr/>
          <p:nvPr/>
        </p:nvSpPr>
        <p:spPr>
          <a:xfrm>
            <a:off x="7022592" y="3063240"/>
            <a:ext cx="466344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Stockage objet externe pour les images</a:t>
            </a:r>
            <a:endParaRPr lang="en-US" sz="1400" dirty="0"/>
          </a:p>
        </p:txBody>
      </p:sp>
      <p:sp>
        <p:nvSpPr>
          <p:cNvPr id="16" name="Shape 14"/>
          <p:cNvSpPr/>
          <p:nvPr/>
        </p:nvSpPr>
        <p:spPr>
          <a:xfrm>
            <a:off x="6766560" y="3877056"/>
            <a:ext cx="100584" cy="100584"/>
          </a:xfrm>
          <a:prstGeom prst="rect">
            <a:avLst/>
          </a:prstGeom>
          <a:solidFill>
            <a:srgbClr val="C1121F"/>
          </a:solidFill>
          <a:ln/>
        </p:spPr>
      </p:sp>
      <p:sp>
        <p:nvSpPr>
          <p:cNvPr id="17" name="Text 15"/>
          <p:cNvSpPr/>
          <p:nvPr/>
        </p:nvSpPr>
        <p:spPr>
          <a:xfrm>
            <a:off x="7022592" y="3749040"/>
            <a:ext cx="466344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Boutique de merchandising</a:t>
            </a:r>
            <a:endParaRPr lang="en-US" sz="1400" dirty="0"/>
          </a:p>
        </p:txBody>
      </p:sp>
      <p:sp>
        <p:nvSpPr>
          <p:cNvPr id="18" name="Shape 16"/>
          <p:cNvSpPr/>
          <p:nvPr/>
        </p:nvSpPr>
        <p:spPr>
          <a:xfrm>
            <a:off x="6766560" y="4562856"/>
            <a:ext cx="100584" cy="100584"/>
          </a:xfrm>
          <a:prstGeom prst="rect">
            <a:avLst/>
          </a:prstGeom>
          <a:solidFill>
            <a:srgbClr val="C1121F"/>
          </a:solidFill>
          <a:ln/>
        </p:spPr>
      </p:sp>
      <p:sp>
        <p:nvSpPr>
          <p:cNvPr id="19" name="Text 17"/>
          <p:cNvSpPr/>
          <p:nvPr/>
        </p:nvSpPr>
        <p:spPr>
          <a:xfrm>
            <a:off x="7022592" y="4434840"/>
            <a:ext cx="466344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Archives des éditions passées</a:t>
            </a:r>
            <a:endParaRPr lang="en-US" sz="1400" dirty="0"/>
          </a:p>
        </p:txBody>
      </p:sp>
      <p:sp>
        <p:nvSpPr>
          <p:cNvPr id="20" name="Shape 18"/>
          <p:cNvSpPr/>
          <p:nvPr/>
        </p:nvSpPr>
        <p:spPr>
          <a:xfrm>
            <a:off x="6766560" y="5248656"/>
            <a:ext cx="100584" cy="100584"/>
          </a:xfrm>
          <a:prstGeom prst="rect">
            <a:avLst/>
          </a:prstGeom>
          <a:solidFill>
            <a:srgbClr val="C1121F"/>
          </a:solidFill>
          <a:ln/>
        </p:spPr>
      </p:sp>
      <p:sp>
        <p:nvSpPr>
          <p:cNvPr id="21" name="Text 19"/>
          <p:cNvSpPr/>
          <p:nvPr/>
        </p:nvSpPr>
        <p:spPr>
          <a:xfrm>
            <a:off x="7022592" y="5120640"/>
            <a:ext cx="4663440" cy="411480"/>
          </a:xfrm>
          <a:prstGeom prst="rect">
            <a:avLst/>
          </a:prstGeom>
          <a:noFill/>
          <a:ln/>
        </p:spPr>
        <p:txBody>
          <a:bodyPr wrap="square" lIns="0" tIns="0" rIns="0" bIns="0" rtlCol="0" anchor="t"/>
          <a:lstStyle/>
          <a:p>
            <a:pPr algn="l" indent="0" marL="0">
              <a:buNone/>
            </a:pPr>
            <a:r>
              <a:rPr lang="en-US" sz="1400" dirty="0">
                <a:solidFill>
                  <a:srgbClr val="C7C7D1"/>
                </a:solidFill>
                <a:latin typeface="Inter" pitchFamily="34" charset="0"/>
                <a:ea typeface="Inter" pitchFamily="34" charset="-122"/>
                <a:cs typeface="Inter" pitchFamily="34" charset="-120"/>
              </a:rPr>
              <a:t>Statistiques de fréquentation</a:t>
            </a:r>
            <a:endParaRPr lang="en-US" sz="1400" dirty="0"/>
          </a:p>
        </p:txBody>
      </p:sp>
      <p:sp>
        <p:nvSpPr>
          <p:cNvPr id="22" name="Text 20"/>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23" name="Text 21"/>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21792" y="2697480"/>
            <a:ext cx="10972800" cy="1051560"/>
          </a:xfrm>
          <a:prstGeom prst="rect">
            <a:avLst/>
          </a:prstGeom>
          <a:noFill/>
          <a:ln/>
        </p:spPr>
        <p:txBody>
          <a:bodyPr wrap="square" lIns="0" tIns="0" rIns="0" bIns="0" rtlCol="0" anchor="ctr"/>
          <a:lstStyle/>
          <a:p>
            <a:pPr algn="l" indent="0" marL="0">
              <a:buNone/>
            </a:pPr>
            <a:r>
              <a:rPr lang="en-US" sz="5200" b="1" spc="100" kern="0" dirty="0">
                <a:solidFill>
                  <a:srgbClr val="FFFFFF"/>
                </a:solidFill>
                <a:latin typeface="Oswald" pitchFamily="34" charset="0"/>
                <a:ea typeface="Oswald" pitchFamily="34" charset="-122"/>
                <a:cs typeface="Oswald" pitchFamily="34" charset="-120"/>
              </a:rPr>
              <a:t>Merci de votre attention</a:t>
            </a:r>
            <a:endParaRPr lang="en-US" sz="5200" dirty="0"/>
          </a:p>
        </p:txBody>
      </p:sp>
      <p:sp>
        <p:nvSpPr>
          <p:cNvPr id="3" name="Shape 1"/>
          <p:cNvSpPr/>
          <p:nvPr/>
        </p:nvSpPr>
        <p:spPr>
          <a:xfrm>
            <a:off x="658368" y="3913632"/>
            <a:ext cx="868680" cy="64008"/>
          </a:xfrm>
          <a:prstGeom prst="rect">
            <a:avLst/>
          </a:prstGeom>
          <a:solidFill>
            <a:srgbClr val="C1121F"/>
          </a:solidFill>
          <a:ln/>
        </p:spPr>
      </p:sp>
      <p:sp>
        <p:nvSpPr>
          <p:cNvPr id="4" name="Text 2"/>
          <p:cNvSpPr/>
          <p:nvPr/>
        </p:nvSpPr>
        <p:spPr>
          <a:xfrm>
            <a:off x="640080" y="4206240"/>
            <a:ext cx="10058400" cy="457200"/>
          </a:xfrm>
          <a:prstGeom prst="rect">
            <a:avLst/>
          </a:prstGeom>
          <a:noFill/>
          <a:ln/>
        </p:spPr>
        <p:txBody>
          <a:bodyPr wrap="square" lIns="0" tIns="0" rIns="0" bIns="0" rtlCol="0" anchor="ctr"/>
          <a:lstStyle/>
          <a:p>
            <a:pPr algn="l" indent="0" marL="0">
              <a:buNone/>
            </a:pPr>
            <a:r>
              <a:rPr lang="en-US" sz="2000" dirty="0">
                <a:solidFill>
                  <a:srgbClr val="C7C7D1"/>
                </a:solidFill>
                <a:latin typeface="Inter" pitchFamily="34" charset="0"/>
                <a:ea typeface="Inter" pitchFamily="34" charset="-122"/>
                <a:cs typeface="Inter" pitchFamily="34" charset="-120"/>
              </a:rPr>
              <a:t>Je suis à votre disposition pour vos questions</a:t>
            </a:r>
            <a:endParaRPr lang="en-US" sz="2000" dirty="0"/>
          </a:p>
        </p:txBody>
      </p:sp>
      <p:sp>
        <p:nvSpPr>
          <p:cNvPr id="5" name="Text 3"/>
          <p:cNvSpPr/>
          <p:nvPr/>
        </p:nvSpPr>
        <p:spPr>
          <a:xfrm>
            <a:off x="640080" y="5029200"/>
            <a:ext cx="10058400" cy="365760"/>
          </a:xfrm>
          <a:prstGeom prst="rect">
            <a:avLst/>
          </a:prstGeom>
          <a:noFill/>
          <a:ln/>
        </p:spPr>
        <p:txBody>
          <a:bodyPr wrap="square" lIns="0" tIns="0" rIns="0" bIns="0" rtlCol="0" anchor="ctr"/>
          <a:lstStyle/>
          <a:p>
            <a:pPr algn="l" indent="0" marL="0">
              <a:buNone/>
            </a:pPr>
            <a:r>
              <a:rPr lang="en-US" sz="1300" dirty="0">
                <a:solidFill>
                  <a:srgbClr val="6E6E7C"/>
                </a:solidFill>
                <a:latin typeface="Inter" pitchFamily="34" charset="0"/>
                <a:ea typeface="Inter" pitchFamily="34" charset="-122"/>
                <a:cs typeface="Inter" pitchFamily="34" charset="-120"/>
              </a:rPr>
              <a:t>Vindhellfest — Soutenance CDA  ·  ARNAUD Aurélien</a:t>
            </a:r>
            <a:endParaRPr lang="en-US" sz="1300" dirty="0"/>
          </a:p>
        </p:txBody>
      </p:sp>
      <p:sp>
        <p:nvSpPr>
          <p:cNvPr id="6" name="Text 4"/>
          <p:cNvSpPr/>
          <p:nvPr/>
        </p:nvSpPr>
        <p:spPr>
          <a:xfrm>
            <a:off x="640080" y="6355080"/>
            <a:ext cx="7315200" cy="274320"/>
          </a:xfrm>
          <a:prstGeom prst="rect">
            <a:avLst/>
          </a:prstGeom>
          <a:noFill/>
          <a:ln/>
        </p:spPr>
        <p:txBody>
          <a:bodyPr wrap="square" lIns="0" tIns="0" rIns="0" bIns="0" rtlCol="0" anchor="ctr"/>
          <a:lstStyle/>
          <a:p>
            <a:pPr algn="l" indent="0" marL="0">
              <a:buNone/>
            </a:pPr>
            <a:r>
              <a:rPr lang="en-US" sz="1000" dirty="0">
                <a:solidFill>
                  <a:srgbClr val="6E6E7C"/>
                </a:solidFill>
                <a:latin typeface="Inter" pitchFamily="34" charset="0"/>
                <a:ea typeface="Inter" pitchFamily="34" charset="-122"/>
                <a:cs typeface="Inter" pitchFamily="34" charset="-120"/>
              </a:rPr>
              <a:t>Vindhellfest — Soutenance CDA</a:t>
            </a:r>
            <a:endParaRPr lang="en-US" sz="1000" dirty="0"/>
          </a:p>
        </p:txBody>
      </p:sp>
      <p:sp>
        <p:nvSpPr>
          <p:cNvPr id="7" name="Text 5"/>
          <p:cNvSpPr/>
          <p:nvPr/>
        </p:nvSpPr>
        <p:spPr>
          <a:xfrm>
            <a:off x="10881360" y="6355080"/>
            <a:ext cx="667512" cy="274320"/>
          </a:xfrm>
          <a:prstGeom prst="rect">
            <a:avLst/>
          </a:prstGeom>
          <a:noFill/>
          <a:ln/>
        </p:spPr>
        <p:txBody>
          <a:bodyPr wrap="square" lIns="0" tIns="0" rIns="0" bIns="0" rtlCol="0" anchor="ctr"/>
          <a:lstStyle/>
          <a:p>
            <a:pPr algn="r" indent="0" marL="0">
              <a:buNone/>
            </a:pPr>
            <a:r>
              <a:rPr lang="en-US" sz="1000" dirty="0">
                <a:solidFill>
                  <a:srgbClr val="6E6E7C"/>
                </a:solidFill>
                <a:latin typeface="Inter" pitchFamily="34" charset="0"/>
                <a:ea typeface="Inter" pitchFamily="34" charset="-122"/>
                <a:cs typeface="Inter" pitchFamily="34" charset="-120"/>
              </a:rPr>
              <a:t>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2026-07-25T11:51:56Z</dcterms:created>
  <dcterms:modified xsi:type="dcterms:W3CDTF">2026-07-25T11:51:56Z</dcterms:modified>
</cp:coreProperties>
</file>